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b83084f1-63a5-edde-87bd-217048f93f8b}">
          <p14:sldIdLst>
            <p14:sldId id="256"/>
          </p14:sldIdLst>
        </p14:section>
        <p14:section name="Проблема и рынок" id="{6f9b6f5a-a0d7-a54b-a0d1-b520286e7e0b}">
          <p14:sldIdLst>
            <p14:sldId id="257"/>
            <p14:sldId id="258"/>
          </p14:sldIdLst>
        </p14:section>
        <p14:section name="Продукт" id="{ba6f8fec-2c9d-3427-e95d-b354d89a656c}">
          <p14:sldIdLst>
            <p14:sldId id="259"/>
          </p14:sldIdLst>
        </p14:section>
        <p14:section name="Деньги и план" id="{62923265-ad0f-ee99-ff61-bc7cd66cee5c}">
          <p14:sldIdLst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32DD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000000"/>
            </a:solidFill>
            <a:ln w="28575" cap="flat">
              <a:solidFill>
                <a:srgbClr val="000000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432DD7"/>
            </a:solidFill>
            <a:ln w="28575" cap="flat">
              <a:solidFill>
                <a:srgbClr val="432DD7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32DD7"/>
              </a:solidFill>
              <a:ln w="9525" cap="flat">
                <a:solidFill>
                  <a:srgbClr val="432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F86898"/>
            </a:solidFill>
            <a:ln w="28575" cap="flat">
              <a:solidFill>
                <a:srgbClr val="F8689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86898"/>
              </a:solidFill>
              <a:ln w="9525" cap="flat">
                <a:solidFill>
                  <a:srgbClr val="F868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E5E2D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9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0:30
Здравствуйте! Мы команда Shredders.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Сейчас расскажем, зачем он нужен, и покажем его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
У гостиниц своя цифра, 242 тысячи, потому что они считают только тех, кто у них жил. Мы эти цифры не смешиваем.
Компании нужно примерно 1 260 человек в год. Это 0,13% только от китайского потока. И им есть куда ехать: внизу четыре места, куда возит компания. Каньон, горные озёра и Туркестан как раз то, ради чего туристы из Китая едут за природой и историей.
То есть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Поэтому мы сделали сайт, который ведёт туриста по шести шагам.
Сначала он находит тур через пост в Xiaohongshu или открытку друга. Сайт сразу на английском и китайском.
Потом видит, что входит в цену. У каждого тура четыре списка, и пункт «ещё уточняется» мы специально не прячем.
Дальше он может посмотреть видео гида и созвониться с ним на 5 минут до оплаты.
Платит своей картой на странице банка, получает код брони, а после поездки отправляет другу открытку с QR-кодом.
Справа так выглядит страница тура на телефоне. Весь путь уже работает в прототипе, ссылка есть на первом слайде. Оплата пока тестовая.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0:55
Часто спрашивают, зачем свой сайт, если есть Trip.com. Похожий тур на Чарын и Каинды там уже продаётся, у него 108 бронирований. Значит, спрос есть.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В таблице видно, что Trip.com сильнее по охвату и оплате. Зато у нас клиент остаётся у компании, а гида можно увидеть ещё до оплаты.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1:15
Теперь про деньги. Кейс разрешает потратить до 20 миллионов, но нам на старт хватает 8.
Из них 4,8 миллиона разовые расходы, а 3,2 миллиона уходят на работу сайта за первые 12 месяцев: хостинг, поддержка на китайском и реклама. Всего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
Если компания выйдет на свою цель, деньги вернутся на 22-м месяце. Если туристов будет на 30% меньше, на 28-м.
Мы сделали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 После первого года сайт стоит примерно 395 тысяч в месяц, это около 30 туристов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0:50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готов, и кто за него отвечает. Разработчика и дизайнера мы нанимаем, они есть в бюджете, а интервью, тесты и связь с компанией берём на себя.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Китая. Спасибо!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Ихсан: «Спасибо! Будем рады вопросам». Слайд стоит на экране во время вопросов: QR ведёт на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ELLOW">
    <p:bg>
      <p:bgPr>
        <a:solidFill>
          <a:srgbClr val="FFE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SHREDDERS  ·  ZERTTEX HACKATHON 2026  ·  ФИНАЛ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548640" y="1143000"/>
            <a:ext cx="5989320" cy="1280160"/>
          </a:xfrm>
          <a:prstGeom prst="roundRect">
            <a:avLst>
              <a:gd name="adj" fmla="val 8571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77240" y="11887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 и сайт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9829800" y="2331720"/>
            <a:ext cx="1783080" cy="214884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pic>
        <p:nvPicPr>
          <p:cNvPr id="22" name="Image 2" descr="QR-код: ссылка на прототи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2450592"/>
            <a:ext cx="1463040" cy="1463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829800" y="40050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сканируй: сайт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2DD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первый год: 4,8 млн разовых расходов + 3,2 млн на работу за 12 месяцев. Лимит кейса 20 млн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432D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432DD7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Озеро Каин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201168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777240" y="20574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</a:t>
            </a:r>
            <a:endParaRPr lang="en-US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Ждём ваши вопросы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SHREDDERS  ·  ИХСАН · ЕРАЛЫ · АСЫЛХАН · РАМАЗАН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372600" y="201168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pic>
        <p:nvPicPr>
          <p:cNvPr id="9" name="Image 2" descr="QR-код: ссылка на прототип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2148840"/>
            <a:ext cx="1874520" cy="1874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372600" y="4114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сайт Saryarqa Go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46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diawx-6669.github.io/ZERttex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949440" y="6510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Озеро Каинды · фото: Katariyakartikey,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Neobrutalism">
  <a:themeElements>
    <a:clrScheme name="Saryarqa Go Neobrutalism">
      <a:dk1>
        <a:srgbClr val="000000"/>
      </a:dk1>
      <a:lt1>
        <a:srgbClr val="FFFEF5"/>
      </a:lt1>
      <a:dk2>
        <a:srgbClr val="1C293C"/>
      </a:dk2>
      <a:lt2>
        <a:srgbClr val="FFE700"/>
      </a:lt2>
      <a:accent1>
        <a:srgbClr val="432DD7"/>
      </a:accent1>
      <a:accent2>
        <a:srgbClr val="F86898"/>
      </a:accent2>
      <a:accent3>
        <a:srgbClr val="FFE700"/>
      </a:accent3>
      <a:accent4>
        <a:srgbClr val="FDC800"/>
      </a:accent4>
      <a:accent5>
        <a:srgbClr val="1C293C"/>
      </a:accent5>
      <a:accent6>
        <a:srgbClr val="E5E2D6"/>
      </a:accent6>
      <a:hlink>
        <a:srgbClr val="432DD7"/>
      </a:hlink>
      <a:folHlink>
        <a:srgbClr val="F86898"/>
      </a:folHlink>
    </a:clrScheme>
    <a:fontScheme name="Saryarqa Go Neobrutalism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2026-10-28T17:48:06Z</dcterms:created>
  <dcterms:modified xsi:type="dcterms:W3CDTF">2026-10-28T17:48:06Z</dcterms:modified>
</cp:coreProperties>
</file>