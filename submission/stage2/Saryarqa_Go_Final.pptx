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daeed123-0d03-3e73-04d4-77c19f3fe8a0}">
          <p14:sldIdLst>
            <p14:sldId id="256"/>
          </p14:sldIdLst>
        </p14:section>
        <p14:section name="Проблема и рынок" id="{13f8ea39-a99b-35df-f6a3-9472093fc273}">
          <p14:sldIdLst>
            <p14:sldId id="257"/>
            <p14:sldId id="258"/>
          </p14:sldIdLst>
        </p14:section>
        <p14:section name="Продукт" id="{2f529be4-3c23-86c0-a992-a6917b0300f3}">
          <p14:sldIdLst>
            <p14:sldId id="259"/>
          </p14:sldIdLst>
        </p14:section>
        <p14:section name="Деньги и план" id="{6c6c8f03-ba4a-e50c-7262-f0e8e6abc72d}">
          <p14:sldIdLst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Прибытия из Китая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17727</c:v>
                </c:pt>
                <c:pt idx="1">
                  <c:v>367365</c:v>
                </c:pt>
                <c:pt idx="2">
                  <c:v>655092</c:v>
                </c:pt>
                <c:pt idx="3">
                  <c:v>968838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Остаётся, ₸</c:v>
                </c:pt>
              </c:strCache>
            </c:strRef>
          </c:tx>
          <c:spPr>
            <a:solidFill>
              <a:srgbClr val="432DD7"/>
            </a:solidFill>
            <a:effectLst/>
          </c:spPr>
          <c:invertIfNegative val="0"/>
          <c:dLbls>
            <c:numFmt formatCode="### 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32DD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2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Напрямую</c:v>
                  </c:pt>
                  <c:pt idx="1">
                    <c:v>Комиссия 20%</c:v>
                  </c:pt>
                  <c:pt idx="2">
                    <c:v>Комиссия 30%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13200</c:v>
                </c:pt>
                <c:pt idx="1">
                  <c:v>4400</c:v>
                </c:pt>
                <c:pt idx="2">
                  <c:v>0</c:v>
                </c:pt>
              </c:numCache>
            </c:numRef>
          </c:val>
        </c:ser>
        <c:dLbls>
          <c:numFmt formatCode="### 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Цель компании</c:v>
                </c:pt>
              </c:strCache>
            </c:strRef>
          </c:tx>
          <c:spPr>
            <a:solidFill>
              <a:srgbClr val="000000"/>
            </a:solidFill>
            <a:ln w="28575" cap="flat">
              <a:solidFill>
                <a:srgbClr val="000000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-5.21</c:v>
                </c:pt>
                <c:pt idx="4">
                  <c:v>-5.42</c:v>
                </c:pt>
                <c:pt idx="5">
                  <c:v>-5.56</c:v>
                </c:pt>
                <c:pt idx="6">
                  <c:v>-5.64</c:v>
                </c:pt>
                <c:pt idx="7">
                  <c:v>-5.65</c:v>
                </c:pt>
                <c:pt idx="8">
                  <c:v>-5.59</c:v>
                </c:pt>
                <c:pt idx="9">
                  <c:v>-5.47</c:v>
                </c:pt>
                <c:pt idx="10">
                  <c:v>-5.28</c:v>
                </c:pt>
                <c:pt idx="11">
                  <c:v>-5.02</c:v>
                </c:pt>
                <c:pt idx="12">
                  <c:v>-4.76</c:v>
                </c:pt>
                <c:pt idx="13">
                  <c:v>-4.42</c:v>
                </c:pt>
                <c:pt idx="14">
                  <c:v>-4.02</c:v>
                </c:pt>
                <c:pt idx="15">
                  <c:v>-3.56</c:v>
                </c:pt>
                <c:pt idx="16">
                  <c:v>-3.03</c:v>
                </c:pt>
                <c:pt idx="17">
                  <c:v>-2.43</c:v>
                </c:pt>
                <c:pt idx="18">
                  <c:v>-1.77</c:v>
                </c:pt>
                <c:pt idx="19">
                  <c:v>-1.04</c:v>
                </c:pt>
                <c:pt idx="20">
                  <c:v>-0.24</c:v>
                </c:pt>
                <c:pt idx="21">
                  <c:v>0.62</c:v>
                </c:pt>
                <c:pt idx="22">
                  <c:v>1.55</c:v>
                </c:pt>
                <c:pt idx="23">
                  <c:v>2.54</c:v>
                </c:pt>
                <c:pt idx="24">
                  <c:v>3.54</c:v>
                </c:pt>
                <c:pt idx="25">
                  <c:v>4.53</c:v>
                </c:pt>
                <c:pt idx="26">
                  <c:v>5.53</c:v>
                </c:pt>
                <c:pt idx="27">
                  <c:v>6.52</c:v>
                </c:pt>
                <c:pt idx="28">
                  <c:v>7.51</c:v>
                </c:pt>
                <c:pt idx="29">
                  <c:v>8.51</c:v>
                </c:pt>
                <c:pt idx="30">
                  <c:v>9.5</c:v>
                </c:pt>
                <c:pt idx="31">
                  <c:v>10.5</c:v>
                </c:pt>
                <c:pt idx="32">
                  <c:v>11.49</c:v>
                </c:pt>
                <c:pt idx="33">
                  <c:v>12.49</c:v>
                </c:pt>
                <c:pt idx="34">
                  <c:v>13.48</c:v>
                </c:pt>
                <c:pt idx="35">
                  <c:v>14.47</c:v>
                </c:pt>
                <c:pt idx="36">
                  <c:v>15.47</c:v>
                </c:pt>
                <c:pt idx="37">
                  <c:v>16.46</c:v>
                </c:pt>
                <c:pt idx="38">
                  <c:v>17.46</c:v>
                </c:pt>
                <c:pt idx="39">
                  <c:v>18.45</c:v>
                </c:pt>
                <c:pt idx="40">
                  <c:v>19.45</c:v>
                </c:pt>
                <c:pt idx="41">
                  <c:v>20.44</c:v>
                </c:pt>
                <c:pt idx="42">
                  <c:v>21.43</c:v>
                </c:pt>
                <c:pt idx="43">
                  <c:v>22.43</c:v>
                </c:pt>
                <c:pt idx="44">
                  <c:v>23.42</c:v>
                </c:pt>
                <c:pt idx="45">
                  <c:v>24.42</c:v>
                </c:pt>
                <c:pt idx="46">
                  <c:v>25.41</c:v>
                </c:pt>
                <c:pt idx="47">
                  <c:v>26.41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 30% меньше</c:v>
                </c:pt>
              </c:strCache>
            </c:strRef>
          </c:tx>
          <c:spPr>
            <a:solidFill>
              <a:srgbClr val="432DD7"/>
            </a:solidFill>
            <a:ln w="28575" cap="flat">
              <a:solidFill>
                <a:srgbClr val="432DD7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432DD7"/>
              </a:solidFill>
              <a:ln w="9525" cap="flat">
                <a:solidFill>
                  <a:srgbClr val="432DD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-5.23</c:v>
                </c:pt>
                <c:pt idx="4">
                  <c:v>-5.48</c:v>
                </c:pt>
                <c:pt idx="5">
                  <c:v>-5.68</c:v>
                </c:pt>
                <c:pt idx="6">
                  <c:v>-5.84</c:v>
                </c:pt>
                <c:pt idx="7">
                  <c:v>-5.94</c:v>
                </c:pt>
                <c:pt idx="8">
                  <c:v>-6.01</c:v>
                </c:pt>
                <c:pt idx="9">
                  <c:v>-6.02</c:v>
                </c:pt>
                <c:pt idx="10">
                  <c:v>-5.99</c:v>
                </c:pt>
                <c:pt idx="11">
                  <c:v>-5.92</c:v>
                </c:pt>
                <c:pt idx="12">
                  <c:v>-5.85</c:v>
                </c:pt>
                <c:pt idx="13">
                  <c:v>-5.73</c:v>
                </c:pt>
                <c:pt idx="14">
                  <c:v>-5.57</c:v>
                </c:pt>
                <c:pt idx="15">
                  <c:v>-5.37</c:v>
                </c:pt>
                <c:pt idx="16">
                  <c:v>-5.11</c:v>
                </c:pt>
                <c:pt idx="17">
                  <c:v>-4.81</c:v>
                </c:pt>
                <c:pt idx="18">
                  <c:v>-4.47</c:v>
                </c:pt>
                <c:pt idx="19">
                  <c:v>-4.07</c:v>
                </c:pt>
                <c:pt idx="20">
                  <c:v>-3.64</c:v>
                </c:pt>
                <c:pt idx="21">
                  <c:v>-3.15</c:v>
                </c:pt>
                <c:pt idx="22">
                  <c:v>-2.62</c:v>
                </c:pt>
                <c:pt idx="23">
                  <c:v>-2.04</c:v>
                </c:pt>
                <c:pt idx="24">
                  <c:v>-1.46</c:v>
                </c:pt>
                <c:pt idx="25">
                  <c:v>-0.89</c:v>
                </c:pt>
                <c:pt idx="26">
                  <c:v>-0.31</c:v>
                </c:pt>
                <c:pt idx="27">
                  <c:v>0.27</c:v>
                </c:pt>
                <c:pt idx="28">
                  <c:v>0.85</c:v>
                </c:pt>
                <c:pt idx="29">
                  <c:v>1.42</c:v>
                </c:pt>
                <c:pt idx="30">
                  <c:v>2</c:v>
                </c:pt>
                <c:pt idx="31">
                  <c:v>2.58</c:v>
                </c:pt>
                <c:pt idx="32">
                  <c:v>3.16</c:v>
                </c:pt>
                <c:pt idx="33">
                  <c:v>3.73</c:v>
                </c:pt>
                <c:pt idx="34">
                  <c:v>4.31</c:v>
                </c:pt>
                <c:pt idx="35">
                  <c:v>4.89</c:v>
                </c:pt>
                <c:pt idx="36">
                  <c:v>5.47</c:v>
                </c:pt>
                <c:pt idx="37">
                  <c:v>6.04</c:v>
                </c:pt>
                <c:pt idx="38">
                  <c:v>6.62</c:v>
                </c:pt>
                <c:pt idx="39">
                  <c:v>7.2</c:v>
                </c:pt>
                <c:pt idx="40">
                  <c:v>7.78</c:v>
                </c:pt>
                <c:pt idx="41">
                  <c:v>8.35</c:v>
                </c:pt>
                <c:pt idx="42">
                  <c:v>8.93</c:v>
                </c:pt>
                <c:pt idx="43">
                  <c:v>9.51</c:v>
                </c:pt>
                <c:pt idx="44">
                  <c:v>10.09</c:v>
                </c:pt>
                <c:pt idx="45">
                  <c:v>10.66</c:v>
                </c:pt>
                <c:pt idx="46">
                  <c:v>11.24</c:v>
                </c:pt>
                <c:pt idx="47">
                  <c:v>11.82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Стресс-тест</c:v>
                </c:pt>
              </c:strCache>
            </c:strRef>
          </c:tx>
          <c:spPr>
            <a:solidFill>
              <a:srgbClr val="F86898"/>
            </a:solidFill>
            <a:ln w="28575" cap="flat">
              <a:solidFill>
                <a:srgbClr val="F86898"/>
              </a:solidFill>
              <a:prstDash val="solid,solid,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86898"/>
              </a:solidFill>
              <a:ln w="9525" cap="flat">
                <a:solidFill>
                  <a:srgbClr val="F868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>6</c:v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>12</c:v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>18</c:v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>24</c:v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30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>36</c:v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>42</c:v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>48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-1.16</c:v>
                </c:pt>
                <c:pt idx="1">
                  <c:v>-2.94</c:v>
                </c:pt>
                <c:pt idx="2">
                  <c:v>-4.84</c:v>
                </c:pt>
                <c:pt idx="3">
                  <c:v>-5.28</c:v>
                </c:pt>
                <c:pt idx="4">
                  <c:v>-5.62</c:v>
                </c:pt>
                <c:pt idx="5">
                  <c:v>-5.94</c:v>
                </c:pt>
                <c:pt idx="6">
                  <c:v>-6.23</c:v>
                </c:pt>
                <c:pt idx="7">
                  <c:v>-6.51</c:v>
                </c:pt>
                <c:pt idx="8">
                  <c:v>-6.76</c:v>
                </c:pt>
                <c:pt idx="9">
                  <c:v>-6.99</c:v>
                </c:pt>
                <c:pt idx="10">
                  <c:v>-7.2</c:v>
                </c:pt>
                <c:pt idx="11">
                  <c:v>-7.38</c:v>
                </c:pt>
                <c:pt idx="12">
                  <c:v>-7.6</c:v>
                </c:pt>
                <c:pt idx="13">
                  <c:v>-7.8</c:v>
                </c:pt>
                <c:pt idx="14">
                  <c:v>-7.97</c:v>
                </c:pt>
                <c:pt idx="15">
                  <c:v>-8.12</c:v>
                </c:pt>
                <c:pt idx="16">
                  <c:v>-8.25</c:v>
                </c:pt>
                <c:pt idx="17">
                  <c:v>-8.36</c:v>
                </c:pt>
                <c:pt idx="18">
                  <c:v>-8.45</c:v>
                </c:pt>
                <c:pt idx="19">
                  <c:v>-8.51</c:v>
                </c:pt>
                <c:pt idx="20">
                  <c:v>-8.56</c:v>
                </c:pt>
                <c:pt idx="21">
                  <c:v>-8.58</c:v>
                </c:pt>
                <c:pt idx="22">
                  <c:v>-8.57</c:v>
                </c:pt>
                <c:pt idx="23">
                  <c:v>-8.55</c:v>
                </c:pt>
                <c:pt idx="24">
                  <c:v>-8.5</c:v>
                </c:pt>
                <c:pt idx="25">
                  <c:v>-8.44</c:v>
                </c:pt>
                <c:pt idx="26">
                  <c:v>-8.37</c:v>
                </c:pt>
                <c:pt idx="27">
                  <c:v>-8.3</c:v>
                </c:pt>
                <c:pt idx="28">
                  <c:v>-8.23</c:v>
                </c:pt>
                <c:pt idx="29">
                  <c:v>-8.16</c:v>
                </c:pt>
                <c:pt idx="30">
                  <c:v>-8.1</c:v>
                </c:pt>
                <c:pt idx="31">
                  <c:v>-8.03</c:v>
                </c:pt>
                <c:pt idx="32">
                  <c:v>-7.96</c:v>
                </c:pt>
                <c:pt idx="33">
                  <c:v>-7.89</c:v>
                </c:pt>
                <c:pt idx="34">
                  <c:v>-7.82</c:v>
                </c:pt>
                <c:pt idx="35">
                  <c:v>-7.75</c:v>
                </c:pt>
                <c:pt idx="36">
                  <c:v>-7.69</c:v>
                </c:pt>
                <c:pt idx="37">
                  <c:v>-7.62</c:v>
                </c:pt>
                <c:pt idx="38">
                  <c:v>-7.55</c:v>
                </c:pt>
                <c:pt idx="39">
                  <c:v>-7.48</c:v>
                </c:pt>
                <c:pt idx="40">
                  <c:v>-7.41</c:v>
                </c:pt>
                <c:pt idx="41">
                  <c:v>-7.35</c:v>
                </c:pt>
                <c:pt idx="42">
                  <c:v>-7.28</c:v>
                </c:pt>
                <c:pt idx="43">
                  <c:v>-7.21</c:v>
                </c:pt>
                <c:pt idx="44">
                  <c:v>-7.14</c:v>
                </c:pt>
                <c:pt idx="45">
                  <c:v>-7.07</c:v>
                </c:pt>
                <c:pt idx="46">
                  <c:v>-7.01</c:v>
                </c:pt>
                <c:pt idx="47">
                  <c:v>-6.94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30"/>
          <c:min val="-10"/>
        </c:scaling>
        <c:delete val="0"/>
        <c:axPos val="l"/>
        <c:majorGridlines>
          <c:spPr>
            <a:ln w="6350" cap="flat">
              <a:solidFill>
                <a:srgbClr val="E5E2D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C293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C29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0:30
Здравствуйте! Мы команда [название]. Я Ихсан, капитан, со мной Ералы, Асылхан и Рамазан.
Мы взяли кейс про Saryarqa Routes. Это турфирма из Астаны, и сейчас у неё почти все клиенты местные. Компания хочет, чтобы через два года каждый третий турист был иностранцем.
Для этого мы сделали сайт Saryarqa Go. Сейчас расскажем, зачем он нужен, и покажем его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0:50
Начну с проблемы. В 2025 году у компании было 3 400 туристов, и иностранцев среди них примерно 136.
Чтобы дойти до 30% и не потерять местных, нужно где-то на 1 260 иностранцев в год больше. Это около 105 человек в месяц.
В кейсе иностранцы сами пишут, что им мешает. Непонятно, как бронировать: всё через Instagram и WhatsApp, а сайт на русском. Непонятно, что входит в цену. Страшно переводить деньги незнакомой компании. И карта просто не проходит, потому что принимают только Kaspi или наличные.
Сколько людей отваливается на каждом шаге, в кейсе не сказано. Это мы будем мерить на пилоте.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Почему мы начинаем с Китая. С ноября 2023 года у нас с Китаем безвиз на 30 дней.
По данным министерства, в 2023 году из Китая приехало 367 тысяч человек, а в 2025-м уже почти 969 тысяч.
У гостиниц своя цифра, 242 тысячи, потому что они считают только тех, кто у них жил. Мы эти цифры не смешиваем.
Компании нужно примерно 1 260 человек в год. Это 0,13% только от китайского потока. И им есть куда ехать: внизу четыре места, куда возит компания. Каньон, горные озёра и Туркестан как раз то, ради чего туристы из Китая едут за природой и историей.
То есть туристы есть, им просто неудобно у нас бронировать.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Ералы · 1:00
Поэтому мы сделали сайт, который ведёт туриста по шести шагам.
Сначала он находит тур через пост в Xiaohongshu или открытку друга. Сайт сразу на английском и китайском.
Потом видит, что входит в цену. У каждого тура четыре списка, и пункт «ещё уточняется» мы специально не прячем.
Дальше он может посмотреть видео гида и созвониться с ним на 5 минут до оплаты.
Платит своей картой на странице банка, получает код брони, а после поездки отправляет другу открытку с QR-кодом.
Справа так выглядит страница тура на телефоне. Весь путь уже работает в прототипе, ссылка есть на первом слайде. Оплата пока тестовая.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Асылхан · 0:55
Часто спрашивают, зачем свой сайт, если есть Trip.com. Похожий тур на Чарын и Каинды там уже продаётся, у него 108 бронирований. Значит, спрос есть.
Но площадки берут комиссию, примерно 20–30%. Если с тура за 44 тысячи у компании остаётся 13 200, то при 20% остаётся 4 400, а при 30% ничего. И клиент остаётся у площадки.
В таблице видно, что Trip.com сильнее по охвату и оплате. Зато у нас клиент остаётся у компании, а гида можно увидеть ещё до оплаты.
Поэтому сначала делаем свой канал, а после пилота выставим на Trip.com один-два простых 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Рамазан · 1:15
Теперь про деньги. Кейс разрешает потратить до 20 миллионов, но нам на старт хватает 8.
Из них 4,8 миллиона разовые расходы, а 3,2 миллиона уходят на работу сайта за первые 12 месяцев: хостинг, поддержка на китайском и реклама. Всего 13 статей, и у каждой есть расчёт: разработчик на три месяца, перевод с проверкой носителем, юрист, видео гидов, реклама в Xiaohongshu и поддержка на китайском.
Мы считаем, что с каждого нового туриста компании остаётся 13 200 тенге. Это маржа 30%, её ещё надо проверить с компанией.
Если компания выйдет на свою цель, деньги вернутся на 22-м месяце. Если туристов будет на 30% меньше, на 28-м.
Мы сделали и стресс-тест, там проект за четыре года не окупается. Поэтому на 9-м месяце мы смотрим на реальные брони. Если их меньше восьми в месяц, останавливаем рекламу и оставшиеся 12 миллионов не трогаем. После первого года сайт стоит примерно 395 тысяч в месяц, это около 30 туристов в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Ихсан · 0:50
И последнее, план. За 12 недель: интервью и проверка маржи, дизайн, бронирование, настоящая оплата, тесты и пилот с реальными туристами. Для каждого этапа понятно, когда он готов, и кто за него отвечает. Разработчика и дизайнера мы нанимаем, они есть в бюджете, а интервью, тесты и связь с компанией берём на себя.
Риски мы тоже видим: банки могут долго одобрять оплату, спроса может оказаться меньше, чат может ошибиться. Что мы делаем в каждом случае, написано на слайде.
Первое, что сделаем после защиты, это 10 интервью с туристами из Китая. Спасибо! Будем рады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YELLOW">
    <p:bg>
      <p:bgPr>
        <a:solidFill>
          <a:srgbClr val="FFE7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SARYARQA GO · ZERTTEX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">
    <p:bg>
      <p:bgPr>
        <a:solidFill>
          <a:srgbClr val="FFF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3-1.pn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Чарынский каньо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claude/d2366b59-a424-5b36-9f50-23a29de2bbd1/scratchpad/deck2/sh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ZERTTEX HACKATHON 2026  ·  ФИНАЛ  ·  КЕЙС 1</a:t>
            </a:r>
            <a:endParaRPr lang="en-US" sz="1100" dirty="0"/>
          </a:p>
        </p:txBody>
      </p:sp>
      <p:sp>
        <p:nvSpPr>
          <p:cNvPr id="5" name="Shape 1"/>
          <p:cNvSpPr/>
          <p:nvPr/>
        </p:nvSpPr>
        <p:spPr>
          <a:xfrm>
            <a:off x="548640" y="1143000"/>
            <a:ext cx="5989320" cy="1280160"/>
          </a:xfrm>
          <a:prstGeom prst="roundRect">
            <a:avLst>
              <a:gd name="adj" fmla="val 8571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77240" y="118872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Saryarqa Go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560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Туры Saryarqa Routes, которые иностранец может сам найти, понять и оплатить. На английском и китайском.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прототип: diawx-6669.github.io/ZERttex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Ихсан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капитан · начало, план, вопросы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17296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33756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Ералы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337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рынок и сайт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6188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2648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Асылхан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проблема и конкуренты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750808" y="5257800"/>
            <a:ext cx="0" cy="86868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915400" y="5257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Рамазан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891540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D4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бюджет и окупаемость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651052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C9C7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Чарынский каньон · фото: Bgag, CC0, Wikimedia Commons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Иностранцы интересуются, но не бронируют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4%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101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иностранцев среди 3 400 туристов компании в 2025 году, это около 136 человек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69080"/>
            <a:ext cx="38404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2245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Цель компании: 30% за 24 месяца.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Это примерно +1 263 иностранца в год, около 105 в месяц, если местные клиенты останутся.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83480" y="1783080"/>
            <a:ext cx="0" cy="39319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17830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«Непонятно, как забронировать»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1671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Продажи только через Instagram, WhatsApp и звонки. Сайт на русском.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49240" y="265176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2788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знаю, что входит в цену»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172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Нигде нет списка, что включено, а что нет.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49240" y="365760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7490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«Не уверен, что им можно доверять»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417880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 переводом денег за границу компанию нечем проверить.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49240" y="4663440"/>
            <a:ext cx="6263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4800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7548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«Моя карта не проходит»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51846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Принимают только перевод на Kaspi или наличные.</a:t>
            </a:r>
            <a:endParaRPr lang="en-US" sz="1300" dirty="0"/>
          </a:p>
        </p:txBody>
      </p:sp>
      <p:sp>
        <p:nvSpPr>
          <p:cNvPr id="24" name="Note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Жалобы и цифры компании взяты из кейса, расчёт наш. Сколько людей теряется на каждом шаге, в кейсе нет. Это первое, что мы измерим на пилоте.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РЫНОК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Туристов из Китая стало в 2,6 раза больше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Прибытия из Китая, человек в год [1]</a:t>
            </a:r>
            <a:endParaRPr lang="en-US" sz="1200" dirty="0"/>
          </a:p>
        </p:txBody>
      </p:sp>
      <p:graphicFrame>
        <p:nvGraphicFramePr>
          <p:cNvPr id="5" name="China arrivals chart" descr=""/>
          <p:cNvGraphicFramePr/>
          <p:nvPr/>
        </p:nvGraphicFramePr>
        <p:xfrm>
          <a:off x="411480" y="1965960"/>
          <a:ext cx="60350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6" name="Image 0" descr="Чарын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09160"/>
            <a:ext cx="1371600" cy="1028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Чарын</a:t>
            </a:r>
            <a:endParaRPr lang="en-US" sz="1000" dirty="0"/>
          </a:p>
        </p:txBody>
      </p:sp>
      <p:pic>
        <p:nvPicPr>
          <p:cNvPr id="8" name="Image 1" descr="Каинды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968" y="4709160"/>
            <a:ext cx="1371600" cy="10287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029968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Каинды</a:t>
            </a:r>
            <a:endParaRPr lang="en-US" sz="1000" dirty="0"/>
          </a:p>
        </p:txBody>
      </p:sp>
      <p:pic>
        <p:nvPicPr>
          <p:cNvPr id="10" name="Image 2" descr="Туркестан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4709160"/>
            <a:ext cx="1371600" cy="10287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511296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Туркестан</a:t>
            </a:r>
            <a:endParaRPr lang="en-US" sz="1000" dirty="0"/>
          </a:p>
        </p:txBody>
      </p:sp>
      <p:pic>
        <p:nvPicPr>
          <p:cNvPr id="12" name="Image 3" descr="Бураба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4709160"/>
            <a:ext cx="1371600" cy="10287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992624" y="5760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Бурабай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6812280" y="1783080"/>
            <a:ext cx="0" cy="420624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178040" y="17830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дней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178040" y="23865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можно находиться без визы. Безвиз с Китаем действует с ноября 2023 года [4]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7178040" y="30449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7178040" y="3154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≈969 тыс.</a:t>
            </a:r>
            <a:endParaRPr lang="en-US" sz="3600" dirty="0"/>
          </a:p>
        </p:txBody>
      </p:sp>
      <p:sp>
        <p:nvSpPr>
          <p:cNvPr id="19" name="Text 12"/>
          <p:cNvSpPr txBox="1"/>
          <p:nvPr/>
        </p:nvSpPr>
        <p:spPr>
          <a:xfrm>
            <a:off x="7178040" y="37581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прибытий из Китая в 2025 году по данным министерства [1]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7178040" y="4416552"/>
            <a:ext cx="44348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178040" y="45262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0,13%</a:t>
            </a:r>
            <a:endParaRPr lang="en-US" sz="3600" dirty="0"/>
          </a:p>
        </p:txBody>
      </p:sp>
      <p:sp>
        <p:nvSpPr>
          <p:cNvPr id="22" name="Text 15"/>
          <p:cNvSpPr txBox="1"/>
          <p:nvPr/>
        </p:nvSpPr>
        <p:spPr>
          <a:xfrm>
            <a:off x="7178040" y="512978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 этого потока хватит компании, чтобы выйти на цель (1 263 человека в год)</a:t>
            </a:r>
            <a:endParaRPr lang="en-US" sz="1200" dirty="0"/>
          </a:p>
        </p:txBody>
      </p:sp>
      <p:sp>
        <p:nvSpPr>
          <p:cNvPr id="23" name="Note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Гостиницы насчитали 241,7 тыс. гостей из Китая [3], но считают только тех, кто у них жил, поэтому эти цифры мы не сравниваем. [1] Минтуризма РК через BES.media, 2026 · [3] БНС через Energyprom · [4] Times of Central Asia. Фото: Wikimedia Commons.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сайт на все четыре проблемы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Найти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 в Xiaohongshu или открытка друга ведут на сайт на английском и китайском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26280" y="1828800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27448" y="19933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938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Понять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727448" y="233172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 каждого тура четыре списка: включено, за доплату, не включено, ещё уточняется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4980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Проверить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Видео гида, звонок на 5 минут до оплаты, понятные правила возврата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26280" y="3127248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727448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369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Оплатить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63016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шага и своя иностранная карта на странице платёжного провайдера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Поехать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брони, отметки в пути, перенос, если закрыли горную дорогу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26280" y="4425696"/>
            <a:ext cx="374904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727448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53542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Поделиться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727448" y="492861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Открытка с QR-кодом, по которой друг попадает на первый шаг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весь путь кликается в прототипе, оплата пока тестовая. </a:t>
            </a:r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Во втором этапе: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Alipay, WeChat Pay и ИИ-консьерж.</a:t>
            </a:r>
            <a:endParaRPr lang="en-US" sz="1200" dirty="0"/>
          </a:p>
        </p:txBody>
      </p:sp>
      <p:pic>
        <p:nvPicPr>
          <p:cNvPr id="29" name="Image 0" descr="Страница тура Кольсай на телефо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411480"/>
            <a:ext cx="2514600" cy="544068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098280" y="592531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страница тура на телефоне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Trip.com нам не враг, а второй канал продаж</a:t>
            </a:r>
            <a:endParaRPr lang="en-US" sz="3400" dirty="0"/>
          </a:p>
        </p:txBody>
      </p:sp>
      <p:graphicFrame>
        <p:nvGraphicFramePr>
          <p:cNvPr id="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2880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Trip.com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Сейчас: Instagram, WhatsApp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32DD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Saryarqa Go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Охват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 языка, 35 валют [7]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только кто уже нашёл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приводим сами, нужна реклама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Оплата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карты, PayPal, Apple Pay [8]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Kaspi или наличные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иностранные карты, позже Alipay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Комиссия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≈20–30% (у GetYourGuide) [9]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нет, но клиенты теряются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Клиент чей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площадки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компании, но в чатах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компании: повторные поездки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Гид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видно, только тур [6]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если спросить в чате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9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видео + звонок до оплаты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8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0100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Сколько остаётся компании с тура за 44 000 ₸</a:t>
            </a:r>
            <a:endParaRPr lang="en-US" sz="1200" dirty="0"/>
          </a:p>
        </p:txBody>
      </p:sp>
      <p:graphicFrame>
        <p:nvGraphicFramePr>
          <p:cNvPr id="6" name="Margin chart" descr=""/>
          <p:cNvGraphicFramePr/>
          <p:nvPr/>
        </p:nvGraphicFramePr>
        <p:xfrm>
          <a:off x="7863840" y="2057400"/>
          <a:ext cx="38404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00100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Маржа 30% (13 200 ₸) это наше допущение.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Спрос на такие туры уже есть: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похожий тур Чарын, Кольсай и Каинды продаётся на Trip.com от £64,57, у него 108 бронирований [6]. После пилота выставим туда 1–2 однодневных тура, а длинные и повторные поездки оставим себе.</a:t>
            </a:r>
            <a:endParaRPr lang="en-US" sz="1200" dirty="0"/>
          </a:p>
        </p:txBody>
      </p:sp>
      <p:sp>
        <p:nvSpPr>
          <p:cNvPr id="9" name="Note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Источники: [6] объявление Trip.com 97639672, проверено 27.10.2026 · [7] профиль Trip.com Group · [8] справка Trip.com об оплате · [9] Bokun, 2024 (комиссия GetYourGuide).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БЮДЖЕТ И ОКУПАЕМОСТЬ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из 20 вернутся за 22–28 месяцев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32D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млн 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 первый год: 4,8 млн разовых расходов + 3,2 млн на работу за 12 месяцев. Лимит кейса 20 млн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9768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22-й месяц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компания выйдет на свою цель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783080"/>
            <a:ext cx="0" cy="118872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28-й месяц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4086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окупаемость, если туристов будет на 30% меньше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3101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Куда идут 8 млн, 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758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Создание продукта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06040" y="3730752"/>
            <a:ext cx="1600200" cy="182880"/>
          </a:xfrm>
          <a:prstGeom prst="rect">
            <a:avLst/>
          </a:prstGeom>
          <a:solidFill>
            <a:srgbClr val="432DD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97680" y="36758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4,45 млн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05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и тесты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06040" y="4160520"/>
            <a:ext cx="8989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297680" y="4105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0,25 млн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35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Запуск и реклама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06040" y="4590288"/>
            <a:ext cx="467474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297680" y="45354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 млн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965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Работа в первый год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06040" y="5020056"/>
            <a:ext cx="496242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297680" y="49651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1,38 млн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94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Резерв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06040" y="5449824"/>
            <a:ext cx="222949" cy="182880"/>
          </a:xfrm>
          <a:prstGeom prst="rect">
            <a:avLst/>
          </a:prstGeom>
          <a:solidFill>
            <a:srgbClr val="1C29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97680" y="5394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0,62 млн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статей с расчётом: Cost_Payback_Sheet.xlsx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623560" y="3310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Накопленные деньги, млн ₸</a:t>
            </a:r>
            <a:endParaRPr lang="en-US" sz="1200" dirty="0"/>
          </a:p>
        </p:txBody>
      </p:sp>
      <p:graphicFrame>
        <p:nvGraphicFramePr>
          <p:cNvPr id="31" name="Cash chart" descr=""/>
          <p:cNvGraphicFramePr/>
          <p:nvPr/>
        </p:nvGraphicFramePr>
        <p:xfrm>
          <a:off x="5486400" y="3520440"/>
          <a:ext cx="6217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Считаем вклад, не прибыль: 13 200 ₸ с туриста при марже 30% (проверим с компанией). Стресс-тест (40% туристов, маржа 25%, запуск позже на 2 мес.) не окупается, поэтому на 9-м месяце: меньше ~8 броней в месяц, значит, стоп реклама и без этапа 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ПЛАН</a:t>
            </a:r>
            <a:endParaRPr lang="en-US" sz="11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недель до первых настоящих туристов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1–2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Интервью, маржа, заявки банкам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10 интервью, маржа подтверждена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Ихсан, Асылхан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551176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3–4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551176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Дизайн и 4 страницы туров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551176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страницы проверили 3 туриста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51176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Ералы + дизайнер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16552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5–7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Бронь, списки, чат, доверие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416552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тестовая бронь проходит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416552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тесты: Ералы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281928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8–9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81928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Настоящая оплата, безопасность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81928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первый реальный платёж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81928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разработчик, Рамазан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147304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2D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10–11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147304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Тесты с пользователями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47304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5–8 сессий без блокеров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147304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93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Асылхан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875520" y="1783080"/>
            <a:ext cx="1682496" cy="2194560"/>
          </a:xfrm>
          <a:prstGeom prst="roundRect">
            <a:avLst>
              <a:gd name="adj" fmla="val 6522"/>
            </a:avLst>
          </a:prstGeom>
          <a:solidFill>
            <a:srgbClr val="432DD7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012680" y="19019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Нед. 12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212848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Пилот с туристами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12680" y="29992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E6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Готово: считаем брони и открытки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10012680" y="36118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Ихсан + компания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1879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Что может пойти не так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Банки долго одобряют оплату: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начинаем с обычных карт, заявки на 1-й неделе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01184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Мало спроса из Китая: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интервью до кода, проверка на 9-м месяце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846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Чат ошибается: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отвечает только по проверенным данным, иначе зовёт менеджера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46811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Личные данные: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 храним паспорт и номер карты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51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Гиды плохо знают китайский: </a:t>
            </a:r>
            <a:pPr indent="0" marL="0">
              <a:buNone/>
            </a:pPr>
            <a:r>
              <a:rPr lang="en-US" sz="12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проверяем язык, поддержка на китайском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818120" y="4206240"/>
            <a:ext cx="3749040" cy="1737360"/>
          </a:xfrm>
          <a:prstGeom prst="roundRect">
            <a:avLst>
              <a:gd name="adj" fmla="val 6316"/>
            </a:avLst>
          </a:prstGeom>
          <a:solidFill>
            <a:srgbClr val="FFE700"/>
          </a:solidFill>
          <a:ln w="28575">
            <a:solidFill>
              <a:srgbClr val="000000"/>
            </a:solidFill>
            <a:prstDash val="solid"/>
          </a:ln>
          <a:effectLst>
            <a:outerShdw sx="100000" sy="100000" kx="0" ky="0" algn="bl" rotWithShape="0" blurRad="101600" dist="63500" dir="2700000">
              <a:srgbClr val="000000">
                <a:alpha val="10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046720" y="438912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Первый шаг после защиты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интервью с туристами из Китая, звонок компании про реальную маржу и заявки двум платёжным провайдерам.</a:t>
            </a:r>
            <a:endParaRPr lang="en-US" sz="1800" dirty="0"/>
          </a:p>
        </p:txBody>
      </p:sp>
      <p:sp>
        <p:nvSpPr>
          <p:cNvPr id="42" name="Note"/>
          <p:cNvSpPr txBox="1"/>
          <p:nvPr/>
        </p:nvSpPr>
        <p:spPr>
          <a:xfrm>
            <a:off x="548640" y="608990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9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Alipay+ уже принимают через Kaspi QR, WeChat Pay в терминалах Halyk (2025), но для оплаты онлайн нужен отдельный договор.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1C293C"/>
                </a:solidFill>
                <a:latin typeface="JetBrains Mono"/>
                <a:ea typeface="JetBrains Mono"/>
                <a:cs typeface="JetBrains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ryarqa Go Neobrutalism">
  <a:themeElements>
    <a:clrScheme name="Saryarqa Go Neobrutalism">
      <a:dk1>
        <a:srgbClr val="000000"/>
      </a:dk1>
      <a:lt1>
        <a:srgbClr val="FFFEF5"/>
      </a:lt1>
      <a:dk2>
        <a:srgbClr val="1C293C"/>
      </a:dk2>
      <a:lt2>
        <a:srgbClr val="FFE700"/>
      </a:lt2>
      <a:accent1>
        <a:srgbClr val="432DD7"/>
      </a:accent1>
      <a:accent2>
        <a:srgbClr val="F86898"/>
      </a:accent2>
      <a:accent3>
        <a:srgbClr val="FFE700"/>
      </a:accent3>
      <a:accent4>
        <a:srgbClr val="FDC800"/>
      </a:accent4>
      <a:accent5>
        <a:srgbClr val="1C293C"/>
      </a:accent5>
      <a:accent6>
        <a:srgbClr val="E5E2D6"/>
      </a:accent6>
      <a:hlink>
        <a:srgbClr val="432DD7"/>
      </a:hlink>
      <a:folHlink>
        <a:srgbClr val="F86898"/>
      </a:folHlink>
    </a:clrScheme>
    <a:fontScheme name="Saryarqa Go Neobrutalism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Saryarqa Go — финал ZERTTEX 2026</dc:title>
  <dc:subject>PptxGenJS Presentation</dc:subject>
  <dc:creator>Команда Saryarqa Go</dc:creator>
  <cp:lastModifiedBy>Команда Saryarqa Go</cp:lastModifiedBy>
  <cp:revision>1</cp:revision>
  <dcterms:created xsi:type="dcterms:W3CDTF">2026-10-27T10:21:23Z</dcterms:created>
  <dcterms:modified xsi:type="dcterms:W3CDTF">2026-10-27T10:21:23Z</dcterms:modified>
</cp:coreProperties>
</file>