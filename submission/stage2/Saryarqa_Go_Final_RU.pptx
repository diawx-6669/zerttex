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dia/image-1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e4fd60f-4e2b-8f9a-8148-abf26dbe5240}">
          <p14:sldIdLst>
            <p14:sldId id="256"/>
          </p14:sldIdLst>
        </p14:section>
        <p14:section name="Problem &amp; market" id="{96d2032a-d0f9-7bfa-bcfa-4fa70aa19ecc}">
          <p14:sldIdLst>
            <p14:sldId id="257"/>
            <p14:sldId id="258"/>
          </p14:sldIdLst>
        </p14:section>
        <p14:section name="Product &amp; demo" id="{fca500e7-2cff-dc1b-1c40-5fbabe3c0b6b}">
          <p14:sldIdLst>
            <p14:sldId id="259"/>
            <p14:sldId id="260"/>
          </p14:sldIdLst>
        </p14:section>
        <p14:section name="Business" id="{4eccee3f-f223-1d8f-d86c-1054a3e20c02}">
          <p14:sldIdLst>
            <p14:sldId id="261"/>
            <p14:sldId id="262"/>
          </p14:sldIdLst>
        </p14:section>
        <p14:section name="Plan &amp; risks" id="{14cd0dcc-7fd2-21f2-4521-d8d99316c0b9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Прибытия из Китая</c:v>
                </c:pt>
              </c:strCache>
            </c:strRef>
          </c:tx>
          <c:spPr>
            <a:solidFill>
              <a:srgbClr val="C896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17727</c:v>
                </c:pt>
                <c:pt idx="1">
                  <c:v>367365</c:v>
                </c:pt>
                <c:pt idx="2">
                  <c:v>655092</c:v>
                </c:pt>
                <c:pt idx="3">
                  <c:v>968838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C3C7C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Бюджет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963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3161B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E3C58F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6E737B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B9BDC3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Создание</c:v>
                </c:pt>
                <c:pt idx="1">
                  <c:v>Проверка</c:v>
                </c:pt>
                <c:pt idx="2">
                  <c:v>Запуск</c:v>
                </c:pt>
                <c:pt idx="3">
                  <c:v>Операции</c:v>
                </c:pt>
                <c:pt idx="4">
                  <c:v>Резерв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4450000</c:v>
                </c:pt>
                <c:pt idx="1">
                  <c:v>250000</c:v>
                </c:pt>
                <c:pt idx="2">
                  <c:v>1300000</c:v>
                </c:pt>
                <c:pt idx="3">
                  <c:v>1380000</c:v>
                </c:pt>
                <c:pt idx="4">
                  <c:v>620000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Цель компании 100%</c:v>
                </c:pt>
              </c:strCache>
            </c:strRef>
          </c:tx>
          <c:spPr>
            <a:solidFill>
              <a:srgbClr val="E3C58F"/>
            </a:solidFill>
            <a:ln w="28575" cap="flat">
              <a:solidFill>
                <a:srgbClr val="E3C5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C58F"/>
              </a:solidFill>
              <a:ln w="9525" cap="flat">
                <a:solidFill>
                  <a:srgbClr val="E3C5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Sheet1!$A$2:$A$50</c:f>
              <c:multiLvlStrCache>
                <c:ptCount val="49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>6</c:v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12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>18</c:v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24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30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>36</c:v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>42</c:v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>48</c:v>
                  </c:pt>
                </c:lvl>
              </c:multiLvlStrCache>
            </c:multiLvl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0</c:v>
                </c:pt>
                <c:pt idx="1">
                  <c:v>-1.2</c:v>
                </c:pt>
                <c:pt idx="2">
                  <c:v>-2.9</c:v>
                </c:pt>
                <c:pt idx="3">
                  <c:v>-4.8</c:v>
                </c:pt>
                <c:pt idx="4">
                  <c:v>-5.2</c:v>
                </c:pt>
                <c:pt idx="5">
                  <c:v>-5.4</c:v>
                </c:pt>
                <c:pt idx="6">
                  <c:v>-5.6</c:v>
                </c:pt>
                <c:pt idx="7">
                  <c:v>-5.6</c:v>
                </c:pt>
                <c:pt idx="8">
                  <c:v>-5.6</c:v>
                </c:pt>
                <c:pt idx="9">
                  <c:v>-5.6</c:v>
                </c:pt>
                <c:pt idx="10">
                  <c:v>-5.5</c:v>
                </c:pt>
                <c:pt idx="11">
                  <c:v>-5.3</c:v>
                </c:pt>
                <c:pt idx="12">
                  <c:v>-5</c:v>
                </c:pt>
                <c:pt idx="13">
                  <c:v>-4.8</c:v>
                </c:pt>
                <c:pt idx="14">
                  <c:v>-4.4</c:v>
                </c:pt>
                <c:pt idx="15">
                  <c:v>-4</c:v>
                </c:pt>
                <c:pt idx="16">
                  <c:v>-3.6</c:v>
                </c:pt>
                <c:pt idx="17">
                  <c:v>-3</c:v>
                </c:pt>
                <c:pt idx="18">
                  <c:v>-2.4</c:v>
                </c:pt>
                <c:pt idx="19">
                  <c:v>-1.8</c:v>
                </c:pt>
                <c:pt idx="20">
                  <c:v>-1</c:v>
                </c:pt>
                <c:pt idx="21">
                  <c:v>-0.2</c:v>
                </c:pt>
                <c:pt idx="22">
                  <c:v>0.6</c:v>
                </c:pt>
                <c:pt idx="23">
                  <c:v>1.5</c:v>
                </c:pt>
                <c:pt idx="24">
                  <c:v>2.5</c:v>
                </c:pt>
                <c:pt idx="25">
                  <c:v>3.5</c:v>
                </c:pt>
                <c:pt idx="26">
                  <c:v>4.5</c:v>
                </c:pt>
                <c:pt idx="27">
                  <c:v>5.5</c:v>
                </c:pt>
                <c:pt idx="28">
                  <c:v>6.5</c:v>
                </c:pt>
                <c:pt idx="29">
                  <c:v>7.5</c:v>
                </c:pt>
                <c:pt idx="30">
                  <c:v>8.5</c:v>
                </c:pt>
                <c:pt idx="31">
                  <c:v>9.5</c:v>
                </c:pt>
                <c:pt idx="32">
                  <c:v>10.5</c:v>
                </c:pt>
                <c:pt idx="33">
                  <c:v>11.5</c:v>
                </c:pt>
                <c:pt idx="34">
                  <c:v>12.5</c:v>
                </c:pt>
                <c:pt idx="35">
                  <c:v>13.5</c:v>
                </c:pt>
                <c:pt idx="36">
                  <c:v>14.5</c:v>
                </c:pt>
                <c:pt idx="37">
                  <c:v>15.5</c:v>
                </c:pt>
                <c:pt idx="38">
                  <c:v>16.5</c:v>
                </c:pt>
                <c:pt idx="39">
                  <c:v>17.5</c:v>
                </c:pt>
                <c:pt idx="40">
                  <c:v>18.4</c:v>
                </c:pt>
                <c:pt idx="41">
                  <c:v>19.4</c:v>
                </c:pt>
                <c:pt idx="42">
                  <c:v>20.4</c:v>
                </c:pt>
                <c:pt idx="43">
                  <c:v>21.4</c:v>
                </c:pt>
                <c:pt idx="44">
                  <c:v>22.4</c:v>
                </c:pt>
                <c:pt idx="45">
                  <c:v>23.4</c:v>
                </c:pt>
                <c:pt idx="46">
                  <c:v>24.4</c:v>
                </c:pt>
                <c:pt idx="47">
                  <c:v>25.4</c:v>
                </c:pt>
                <c:pt idx="48">
                  <c:v>26.4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Худший случай −30%</c:v>
                </c:pt>
              </c:strCache>
            </c:strRef>
          </c:tx>
          <c:spPr>
            <a:solidFill>
              <a:srgbClr val="C8963E"/>
            </a:solidFill>
            <a:ln w="28575" cap="flat">
              <a:solidFill>
                <a:srgbClr val="C896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8963E"/>
              </a:solidFill>
              <a:ln w="9525" cap="flat">
                <a:solidFill>
                  <a:srgbClr val="C896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Sheet1!$A$2:$A$50</c:f>
              <c:multiLvlStrCache>
                <c:ptCount val="49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>6</c:v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12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>18</c:v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24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30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>36</c:v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>42</c:v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>48</c:v>
                  </c:pt>
                </c:lvl>
              </c:multiLvlStrCache>
            </c:multiLvlStrRef>
          </c:cat>
          <c:val>
            <c:numRef>
              <c:f>Sheet1!$C$2:$C$50</c:f>
              <c:numCache>
                <c:formatCode>General</c:formatCode>
                <c:ptCount val="49"/>
                <c:pt idx="0">
                  <c:v>0</c:v>
                </c:pt>
                <c:pt idx="1">
                  <c:v>-1.2</c:v>
                </c:pt>
                <c:pt idx="2">
                  <c:v>-2.9</c:v>
                </c:pt>
                <c:pt idx="3">
                  <c:v>-4.8</c:v>
                </c:pt>
                <c:pt idx="4">
                  <c:v>-5.2</c:v>
                </c:pt>
                <c:pt idx="5">
                  <c:v>-5.5</c:v>
                </c:pt>
                <c:pt idx="6">
                  <c:v>-5.7</c:v>
                </c:pt>
                <c:pt idx="7">
                  <c:v>-5.8</c:v>
                </c:pt>
                <c:pt idx="8">
                  <c:v>-5.9</c:v>
                </c:pt>
                <c:pt idx="9">
                  <c:v>-6</c:v>
                </c:pt>
                <c:pt idx="10">
                  <c:v>-6</c:v>
                </c:pt>
                <c:pt idx="11">
                  <c:v>-6</c:v>
                </c:pt>
                <c:pt idx="12">
                  <c:v>-5.9</c:v>
                </c:pt>
                <c:pt idx="13">
                  <c:v>-5.8</c:v>
                </c:pt>
                <c:pt idx="14">
                  <c:v>-5.7</c:v>
                </c:pt>
                <c:pt idx="15">
                  <c:v>-5.6</c:v>
                </c:pt>
                <c:pt idx="16">
                  <c:v>-5.4</c:v>
                </c:pt>
                <c:pt idx="17">
                  <c:v>-5.1</c:v>
                </c:pt>
                <c:pt idx="18">
                  <c:v>-4.8</c:v>
                </c:pt>
                <c:pt idx="19">
                  <c:v>-4.5</c:v>
                </c:pt>
                <c:pt idx="20">
                  <c:v>-4.1</c:v>
                </c:pt>
                <c:pt idx="21">
                  <c:v>-3.6</c:v>
                </c:pt>
                <c:pt idx="22">
                  <c:v>-3.2</c:v>
                </c:pt>
                <c:pt idx="23">
                  <c:v>-2.6</c:v>
                </c:pt>
                <c:pt idx="24">
                  <c:v>-2</c:v>
                </c:pt>
                <c:pt idx="25">
                  <c:v>-1.5</c:v>
                </c:pt>
                <c:pt idx="26">
                  <c:v>-0.9</c:v>
                </c:pt>
                <c:pt idx="27">
                  <c:v>-0.3</c:v>
                </c:pt>
                <c:pt idx="28">
                  <c:v>0.3</c:v>
                </c:pt>
                <c:pt idx="29">
                  <c:v>0.8</c:v>
                </c:pt>
                <c:pt idx="30">
                  <c:v>1.4</c:v>
                </c:pt>
                <c:pt idx="31">
                  <c:v>2</c:v>
                </c:pt>
                <c:pt idx="32">
                  <c:v>2.6</c:v>
                </c:pt>
                <c:pt idx="33">
                  <c:v>3.2</c:v>
                </c:pt>
                <c:pt idx="34">
                  <c:v>3.7</c:v>
                </c:pt>
                <c:pt idx="35">
                  <c:v>4.3</c:v>
                </c:pt>
                <c:pt idx="36">
                  <c:v>4.9</c:v>
                </c:pt>
                <c:pt idx="37">
                  <c:v>5.5</c:v>
                </c:pt>
                <c:pt idx="38">
                  <c:v>6</c:v>
                </c:pt>
                <c:pt idx="39">
                  <c:v>6.6</c:v>
                </c:pt>
                <c:pt idx="40">
                  <c:v>7.2</c:v>
                </c:pt>
                <c:pt idx="41">
                  <c:v>7.8</c:v>
                </c:pt>
                <c:pt idx="42">
                  <c:v>8.3</c:v>
                </c:pt>
                <c:pt idx="43">
                  <c:v>8.9</c:v>
                </c:pt>
                <c:pt idx="44">
                  <c:v>9.5</c:v>
                </c:pt>
                <c:pt idx="45">
                  <c:v>10.1</c:v>
                </c:pt>
                <c:pt idx="46">
                  <c:v>10.7</c:v>
                </c:pt>
                <c:pt idx="47">
                  <c:v>11.2</c:v>
                </c:pt>
                <c:pt idx="48">
                  <c:v>11.8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Стресс-тест</c:v>
                </c:pt>
              </c:strCache>
            </c:strRef>
          </c:tx>
          <c:spPr>
            <a:solidFill>
              <a:srgbClr val="6E737B"/>
            </a:solidFill>
            <a:ln w="28575" cap="flat">
              <a:solidFill>
                <a:srgbClr val="6E73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E737B"/>
              </a:solidFill>
              <a:ln w="9525" cap="flat">
                <a:solidFill>
                  <a:srgbClr val="6E73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Sheet1!$A$2:$A$50</c:f>
              <c:multiLvlStrCache>
                <c:ptCount val="49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>6</c:v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12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>18</c:v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24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30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>36</c:v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>42</c:v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>48</c:v>
                  </c:pt>
                </c:lvl>
              </c:multiLvlStrCache>
            </c:multiLvlStrRef>
          </c:cat>
          <c:val>
            <c:numRef>
              <c:f>Sheet1!$D$2:$D$50</c:f>
              <c:numCache>
                <c:formatCode>General</c:formatCode>
                <c:ptCount val="49"/>
                <c:pt idx="0">
                  <c:v>0</c:v>
                </c:pt>
                <c:pt idx="1">
                  <c:v>-1.2</c:v>
                </c:pt>
                <c:pt idx="2">
                  <c:v>-2.9</c:v>
                </c:pt>
                <c:pt idx="3">
                  <c:v>-4.8</c:v>
                </c:pt>
                <c:pt idx="4">
                  <c:v>-5.3</c:v>
                </c:pt>
                <c:pt idx="5">
                  <c:v>-5.6</c:v>
                </c:pt>
                <c:pt idx="6">
                  <c:v>-5.9</c:v>
                </c:pt>
                <c:pt idx="7">
                  <c:v>-6.2</c:v>
                </c:pt>
                <c:pt idx="8">
                  <c:v>-6.5</c:v>
                </c:pt>
                <c:pt idx="9">
                  <c:v>-6.8</c:v>
                </c:pt>
                <c:pt idx="10">
                  <c:v>-7</c:v>
                </c:pt>
                <c:pt idx="11">
                  <c:v>-7.2</c:v>
                </c:pt>
                <c:pt idx="12">
                  <c:v>-7.4</c:v>
                </c:pt>
                <c:pt idx="13">
                  <c:v>-7.6</c:v>
                </c:pt>
                <c:pt idx="14">
                  <c:v>-7.8</c:v>
                </c:pt>
                <c:pt idx="15">
                  <c:v>-8</c:v>
                </c:pt>
                <c:pt idx="16">
                  <c:v>-8.1</c:v>
                </c:pt>
                <c:pt idx="17">
                  <c:v>-8.3</c:v>
                </c:pt>
                <c:pt idx="18">
                  <c:v>-8.4</c:v>
                </c:pt>
                <c:pt idx="19">
                  <c:v>-8.4</c:v>
                </c:pt>
                <c:pt idx="20">
                  <c:v>-8.5</c:v>
                </c:pt>
                <c:pt idx="21">
                  <c:v>-8.6</c:v>
                </c:pt>
                <c:pt idx="22">
                  <c:v>-8.6</c:v>
                </c:pt>
                <c:pt idx="23">
                  <c:v>-8.6</c:v>
                </c:pt>
                <c:pt idx="24">
                  <c:v>-8.6</c:v>
                </c:pt>
                <c:pt idx="25">
                  <c:v>-8.5</c:v>
                </c:pt>
                <c:pt idx="26">
                  <c:v>-8.4</c:v>
                </c:pt>
                <c:pt idx="27">
                  <c:v>-8.4</c:v>
                </c:pt>
                <c:pt idx="28">
                  <c:v>-8.3</c:v>
                </c:pt>
                <c:pt idx="29">
                  <c:v>-8.2</c:v>
                </c:pt>
                <c:pt idx="30">
                  <c:v>-8.2</c:v>
                </c:pt>
                <c:pt idx="31">
                  <c:v>-8.1</c:v>
                </c:pt>
                <c:pt idx="32">
                  <c:v>-8</c:v>
                </c:pt>
                <c:pt idx="33">
                  <c:v>-8</c:v>
                </c:pt>
                <c:pt idx="34">
                  <c:v>-7.9</c:v>
                </c:pt>
                <c:pt idx="35">
                  <c:v>-7.8</c:v>
                </c:pt>
                <c:pt idx="36">
                  <c:v>-7.8</c:v>
                </c:pt>
                <c:pt idx="37">
                  <c:v>-7.7</c:v>
                </c:pt>
                <c:pt idx="38">
                  <c:v>-7.6</c:v>
                </c:pt>
                <c:pt idx="39">
                  <c:v>-7.6</c:v>
                </c:pt>
                <c:pt idx="40">
                  <c:v>-7.5</c:v>
                </c:pt>
                <c:pt idx="41">
                  <c:v>-7.4</c:v>
                </c:pt>
                <c:pt idx="42">
                  <c:v>-7.3</c:v>
                </c:pt>
                <c:pt idx="43">
                  <c:v>-7.3</c:v>
                </c:pt>
                <c:pt idx="44">
                  <c:v>-7.2</c:v>
                </c:pt>
                <c:pt idx="45">
                  <c:v>-7.1</c:v>
                </c:pt>
                <c:pt idx="46">
                  <c:v>-7.1</c:v>
                </c:pt>
                <c:pt idx="47">
                  <c:v>-7</c:v>
                </c:pt>
                <c:pt idx="48">
                  <c:v>-6.9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37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E737B"/>
                    </a:solidFill>
                    <a:latin typeface="Arial"/>
                  </a:rPr>
                  <a:t>Месяц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3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4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37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E737B"/>
                    </a:solidFill>
                    <a:latin typeface="Arial"/>
                  </a:rPr>
                  <a:t>Накопленный денежный поток, млн ₸</a:t>
                </a:r>
              </a:p>
            </c:rich>
          </c:tx>
          <c:layout/>
          <c:overlay val="0"/>
        </c:title>
        <c:numFmt formatCode="0&quot; млн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3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3161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Ихсан · ≈0:30</a:t>
            </a:r>
          </a:p>
          <a:p>
            <a:r>
              <a:t>Добрый день! Мы команда [название команды]. Я Ихсан, капитан; со мной Ералы, Асылхан и Рамазан.</a:t>
            </a:r>
          </a:p>
          <a:p>
            <a:r>
              <a:t>Компания Saryarqa Routes хочет, чтобы через два года 30% её туристов были иностранцами. Сейчас их всего 4%.</a:t>
            </a:r>
          </a:p>
          <a:p>
            <a:r>
              <a:t>Наш ответ — Saryarqa Go: платформа бронирования на английском и китайском. Турист видит, что входит в тур, знакомится с гидом до оплаты и платит своей картой. Прототип уже работает — ссылка на слайде.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Ералы · ≈0:50</a:t>
            </a:r>
          </a:p>
          <a:p>
            <a:r>
              <a:t>Посмотрим на цифры самой компании. Из 3 400 туристов в год иностранцев около 136. Чтобы выйти на 30% и сохранить местных клиентов, нужно примерно на 1 260 иностранцев в год больше — около 105 в месяц.</a:t>
            </a:r>
          </a:p>
          <a:p>
            <a:r>
              <a:t>Гости сами сказали, где они уходят. Первое — непонятно, как бронировать: только Instagram, WhatsApp и звонки, сайт на русском. Второе — непонятно, что входит в цену. Третье — нет доверия перед отправкой денег за границу. Четвёртое — иностранная карта не проходит: принимают только Kaspi или наличные.</a:t>
            </a:r>
          </a:p>
          <a:p>
            <a:r>
              <a:t>Данных о конверсии в кейсе нет, поэтому мы их не придумываем — это первое, что измерит пилот.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Ералы · ≈0:45</a:t>
            </a:r>
          </a:p>
          <a:p>
            <a:r>
              <a:t>Почему Китай? С ноября 2023 года действует безвиз — до 30 дней. По данным министерства, туристов из Китая было 367 тысяч в 2023 году, 655 тысяч в 2024-м и почти 969 тысяч в 2025-м.</a:t>
            </a:r>
          </a:p>
          <a:p>
            <a:r>
              <a:t>Статистика мест размещения считает по-другому — около 242 тысяч гостей. Поэтому мы показываем эти цифры отдельно и не складываем.</a:t>
            </a:r>
          </a:p>
          <a:p>
            <a:r>
              <a:t>Главное: даже если все новые туристы будут из Китая, компании нужно всего 0,13% от прошлогоднего потока. Спрос есть. Мешает путь бронирования.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Асылхан · ≈0:40</a:t>
            </a:r>
          </a:p>
          <a:p>
            <a:r>
              <a:t>Поэтому мы сделали один путь из шести шагов: найти, спланировать, проверить, забронировать, поехать и поделиться. Каждый шаг закрывает одну жалобу.</a:t>
            </a:r>
          </a:p>
          <a:p>
            <a:r>
              <a:t>На странице тура — четыре списка, включая «ещё не подтверждено», чтобы ничего не скрывать. На странице доверия — видео гида и звонок до оплаты. А после поездки турист получает открытку с QR-кодом, и его друг начинает путь заново.</a:t>
            </a:r>
          </a:p>
          <a:p>
            <a:r>
              <a:t>Внизу: что уже работает в прототипе, что войдёт в MVP за 12 недель и что будет на втором этапе.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Асылхан · ≈1:45 (живое демо)</a:t>
            </a:r>
          </a:p>
          <a:p>
            <a:r>
              <a:t>Сейчас покажу вживую.</a:t>
            </a:r>
          </a:p>
          <a:p>
            <a:r>
              <a:t>[Главная] Переключаю язык на китайский — сайт полностью двуязычный.</a:t>
            </a:r>
          </a:p>
          <a:p>
            <a:r>
              <a:t>[Страница тура] Открываю Кольсай: цена в тенге и юанях и четыре списка — вот пункт «ещё не подтверждено».</a:t>
            </a:r>
          </a:p>
          <a:p>
            <a:r>
              <a:t>[Доверие] Видео гида, кнопка «звонок 5 минут», правила возврата.</a:t>
            </a:r>
          </a:p>
          <a:p>
            <a:r>
              <a:t>[Бронь] Выбираю дату, двух туристов, имя и почту — паспорт не нужен.</a:t>
            </a:r>
          </a:p>
          <a:p>
            <a:r>
              <a:t>[Оплата] Это страница платёжного провайдера. В прототипе оплата симулирована, деньги не списываются.</a:t>
            </a:r>
          </a:p>
          <a:p>
            <a:r>
              <a:t>[Подтверждение] Код брони, что подтвердит менеджер, и открытка, которой можно поделиться.</a:t>
            </a:r>
          </a:p>
          <a:p>
            <a:r>
              <a:t>Цены и гиды здесь — демо-данные. Если подведёт интернет, включаем запись экрана на 60 секунд.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Рамазан · ≈0:40</a:t>
            </a:r>
          </a:p>
          <a:p>
            <a:r>
              <a:t>Можно спросить: зачем свой канал, если есть Trip.com? Trip.com даёт охват — 24 языка и 35 валют. Но комиссия платформ — около 20–30%, это данные по GetYourGuide. При нашей марже 13 200 тенге с тура остаётся 4 400 — или ноль. Клиент принадлежит платформе, а гида турист не видит.</a:t>
            </a:r>
          </a:p>
          <a:p>
            <a:r>
              <a:t>Поэтому сначала строим прямой канал, а после пилота выставим на Trip.com 1–2 стандартных однодневных тура как дополнительный канал.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Рамазан · ≈1:00</a:t>
            </a:r>
          </a:p>
          <a:p>
            <a:r>
              <a:t>Теперь деньги. Лимит кейса — 20 миллионов тенге, но для запуска нам нужно 8. Все 13 статей расписаны с обоснованием: разработчик на 3 месяца, перевод с проверкой носителем, юрист, видео гидов, маркетинг в Xiaohongshu и поддержка на китайском.</a:t>
            </a:r>
          </a:p>
          <a:p>
            <a:r>
              <a:t>Каждый новый турист приносит компании около 13 200 тенге — это допущение маржи 30%, мы проверим его с компанией.</a:t>
            </a:r>
          </a:p>
          <a:p>
            <a:r>
              <a:t>Если компания выйдет на свою цель, вложения вернутся на 22-м месяце. В обязательном худшем случае — на 30% меньше туристов — на 28-м. Есть и стресс-тест: там проект за 48 месяцев не окупается. Поэтому на 9-м месяце у нас контрольная точка, и оставшиеся 12 миллионов открываем, только если её пройдём.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Ихсан · ≈0:35</a:t>
            </a:r>
          </a:p>
          <a:p>
            <a:r>
              <a:t>И план. За 12 недель: интервью и проверка маржи, дизайн, бронирование, реальная оплата, тесты и пилот с настоящими туристами. У каждого этапа есть понятный критерий «готово».</a:t>
            </a:r>
          </a:p>
          <a:p>
            <a:r>
              <a:t>Риски мы называем открыто: одобрение оплаты, спрос, ошибки чата, данные и качество гидов.</a:t>
            </a:r>
          </a:p>
          <a:p>
            <a:r>
              <a:t>Следующий шаг — 10 интервью с туристами из Китая и звонок компании, чтобы проверить маржу. Спасибо! Готовы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_COVER">
    <p:bg>
      <p:bgPr>
        <a:solidFill>
          <a:srgbClr val="13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Saryarqa Go  ·  ZERTTEX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3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3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_DARK">
    <p:bg>
      <p:bgPr>
        <a:solidFill>
          <a:srgbClr val="13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Saryarqa Go  ·  ZERTTEX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3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aryn photo" descr="Charyn Canyon, Kazakhst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hoto ti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61B">
              <a:alpha val="6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5943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ZERTTEX HACKATHON 2026 · ФИНАЛ · КЕЙС 1: ТЕХНОЛОГИЧЕСКИЙ ПРОДУКТ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188720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Saryarqa Go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377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8C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Казахстан без барьеров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090672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бронирования на английском и китайском для Saryarqa Routes: понятный состав тура, знакомство с гидом до оплаты, оплата иностранной картой.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041648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 прототип: diawx-6669.github.io/ZERttex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029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 ·  РОЛИ В ВЫСТУПЛЕНИИ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349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Ихсан</a:t>
            </a:r>
            <a:pPr indent="0" marL="0">
              <a:buNone/>
            </a:pPr>
            <a:r>
              <a:rPr lang="en-US" sz="130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70585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Капитан · вступление, план, вопросы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5349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Ералы</a:t>
            </a:r>
            <a:pPr indent="0" marL="0">
              <a:buNone/>
            </a:pPr>
            <a:r>
              <a:rPr lang="en-US" sz="130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570585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и рынок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0" y="5349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Асылхан</a:t>
            </a:r>
            <a:pPr indent="0" marL="0">
              <a:buNone/>
            </a:pPr>
            <a:r>
              <a:rPr lang="en-US" sz="130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126480" y="570585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и живое демо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869680" y="5349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Рамазан</a:t>
            </a:r>
            <a:pPr indent="0" marL="0">
              <a:buNone/>
            </a:pPr>
            <a:r>
              <a:rPr lang="en-US" sz="130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869680" y="570585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Конкуренты и финансы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863840" y="64922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Чарынский каньон · фото: Bgag, CC0, Wikimedia Commons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Путь бронирования останавливает иностранцев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Иностранцы хотят приехать, но не могут разобраться, довериться и заплатить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3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4%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871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иностранцев из 3 400 туристов сегодня (≈136)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044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компании через 24 месяца</a:t>
            </a:r>
            <a:endParaRPr lang="en-US" sz="1400" dirty="0"/>
          </a:p>
        </p:txBody>
      </p:sp>
      <p:sp>
        <p:nvSpPr>
          <p:cNvPr id="8" name="Gap card"/>
          <p:cNvSpPr/>
          <p:nvPr/>
        </p:nvSpPr>
        <p:spPr>
          <a:xfrm>
            <a:off x="548640" y="448056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3F2E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57200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+1 263 иностранца в год</a:t>
            </a:r>
            <a:endParaRPr lang="en-US" sz="1900" dirty="0"/>
          </a:p>
          <a:p>
            <a:pPr indent="0" marL="0">
              <a:buNone/>
            </a:pPr>
            <a:r>
              <a:rPr lang="en-US" sz="125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≈105 в месяц, если 3 264 местных клиента останутся (наш расчёт по данным кейса)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157276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57276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3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«Непонятно, как забронировать»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19842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первого сообщения — </a:t>
            </a:r>
            <a:pPr indent="0" marL="0">
              <a:buNone/>
            </a:pPr>
            <a:r>
              <a:rPr lang="en-US" sz="130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только через Instagram, WhatsApp и телефон; сайт из одной страницы на русском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2514600"/>
            <a:ext cx="6583680" cy="0"/>
          </a:xfrm>
          <a:prstGeom prst="line">
            <a:avLst/>
          </a:prstGeom>
          <a:noFill/>
          <a:ln w="9525">
            <a:solidFill>
              <a:srgbClr val="DAD7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259689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259689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3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«Не знаю, что входит в цену»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300837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решением — </a:t>
            </a:r>
            <a:pPr indent="0" marL="0">
              <a:buNone/>
            </a:pPr>
            <a:r>
              <a:rPr lang="en-US" sz="130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понятного списка, что покрывает цена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3538728"/>
            <a:ext cx="6583680" cy="0"/>
          </a:xfrm>
          <a:prstGeom prst="line">
            <a:avLst/>
          </a:prstGeom>
          <a:noFill/>
          <a:ln w="9525">
            <a:solidFill>
              <a:srgbClr val="DAD7D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362102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62102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3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«Не уверен, что им можно доверять»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403250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отправкой денег за границу — </a:t>
            </a:r>
            <a:pPr indent="0" marL="0">
              <a:buNone/>
            </a:pPr>
            <a:r>
              <a:rPr lang="en-US" sz="130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ничто не доказывает, что компания настоящая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0" y="4562856"/>
            <a:ext cx="6583680" cy="0"/>
          </a:xfrm>
          <a:prstGeom prst="line">
            <a:avLst/>
          </a:prstGeom>
          <a:noFill/>
          <a:ln w="9525">
            <a:solidFill>
              <a:srgbClr val="DAD7D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0" y="464515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464515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3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«Моя иностранная карта не проходит»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0" y="50566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оплате — </a:t>
            </a:r>
            <a:pPr indent="0" marL="0">
              <a:buNone/>
            </a:pPr>
            <a:r>
              <a:rPr lang="en-US" sz="130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перевод на Kaspi или наличные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56509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кейсе нет данных о конверсии, поэтому мы её не выдумываем — пилот измерит отток на каждом шаге.</a:t>
            </a:r>
            <a:endParaRPr lang="en-US" sz="1200" dirty="0"/>
          </a:p>
        </p:txBody>
      </p:sp>
      <p:sp>
        <p:nvSpPr>
          <p:cNvPr id="26" name="Sources"/>
          <p:cNvSpPr txBox="1"/>
          <p:nvPr/>
        </p:nvSpPr>
        <p:spPr>
          <a:xfrm>
            <a:off x="548640" y="60807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кейс ZERTTEX 2026 (Saryarqa Routes); наш расчёт.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3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Китай: быстрый рост и безвиз с 2023 года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Туристов из Китая в 2025 году в 2,6 раза больше, чем в 2023-м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Прибытия из Китая, человек в год [1]</a:t>
            </a:r>
            <a:endParaRPr lang="en-US" sz="1300" dirty="0"/>
          </a:p>
        </p:txBody>
      </p:sp>
      <p:graphicFrame>
        <p:nvGraphicFramePr>
          <p:cNvPr id="5" name="China arrivals chart" descr=""/>
          <p:cNvGraphicFramePr/>
          <p:nvPr/>
        </p:nvGraphicFramePr>
        <p:xfrm>
          <a:off x="457200" y="1874520"/>
          <a:ext cx="612648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85800" y="2011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Взаимный безвиз с 10.11.2023: до 30 дней за поездку, до 90 дней из любых 180 [4]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15727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РАЗНЫХ СЧЁТА — НЕ ОДНА ВОРОНКА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193852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15,7 млн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8961120" y="19202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иностранцев посетили Казахстан в 2025 году, из них 11,1 млн — туристы [2]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949440" y="2706624"/>
            <a:ext cx="4663440" cy="0"/>
          </a:xfrm>
          <a:prstGeom prst="line">
            <a:avLst/>
          </a:prstGeom>
          <a:noFill/>
          <a:ln w="9525">
            <a:solidFill>
              <a:srgbClr val="3A3F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49440" y="28346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968 838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8961120" y="281635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прибытий из Китая в 2025 году — данные министерства [1]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949440" y="3602736"/>
            <a:ext cx="4663440" cy="0"/>
          </a:xfrm>
          <a:prstGeom prst="line">
            <a:avLst/>
          </a:prstGeom>
          <a:noFill/>
          <a:ln w="9525">
            <a:solidFill>
              <a:srgbClr val="3A3F4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49440" y="37307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241,7 тыс.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8961120" y="3712464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гостей из Китая в местах размещения, 2025 — другой метод, не часть строки выше [3]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949440" y="4498848"/>
            <a:ext cx="4663440" cy="0"/>
          </a:xfrm>
          <a:prstGeom prst="line">
            <a:avLst/>
          </a:prstGeom>
          <a:noFill/>
          <a:ln w="9525">
            <a:solidFill>
              <a:srgbClr val="3A3F4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49440" y="462686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1 263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8961120" y="4608576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доп. иностранцев в год нужно компании = 0,13% прибытий из Китая за 2025 год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55955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C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Спрос — не проблема. Проблема — путь бронирования.</a:t>
            </a:r>
            <a:endParaRPr lang="en-US" sz="2000" dirty="0"/>
          </a:p>
        </p:txBody>
      </p:sp>
      <p:sp>
        <p:nvSpPr>
          <p:cNvPr id="20" name="Sources"/>
          <p:cNvSpPr txBox="1"/>
          <p:nvPr/>
        </p:nvSpPr>
        <p:spPr>
          <a:xfrm>
            <a:off x="548640" y="6035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[1] Минтуризма и спорта РК через BES.media, февр. 2026 · [2] Правительство РК, сент. 2026 · [3] Бюро национальной статистики через Energyprom, 2026 · [4] безвизовый режим, Times of Central Asia, 2024 · [5] опрос Dragon Trail, сент. 2025.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путь, шесть шагов, четыре барьера сняты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шаг отвечает на одну жалобу гостей, а открытка приводит следующего туриста</a:t>
            </a:r>
            <a:endParaRPr lang="en-US" sz="1400" dirty="0"/>
          </a:p>
        </p:txBody>
      </p:sp>
      <p:sp>
        <p:nvSpPr>
          <p:cNvPr id="4" name="Step icon bg Discover"/>
          <p:cNvSpPr/>
          <p:nvPr/>
        </p:nvSpPr>
        <p:spPr>
          <a:xfrm>
            <a:off x="548640" y="1572768"/>
            <a:ext cx="566928" cy="566928"/>
          </a:xfrm>
          <a:prstGeom prst="ellipse">
            <a:avLst/>
          </a:prstGeom>
          <a:solidFill>
            <a:srgbClr val="13161B"/>
          </a:solidFill>
          <a:ln/>
        </p:spPr>
      </p:sp>
      <p:pic>
        <p:nvPicPr>
          <p:cNvPr id="5" name="Step icon Discov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09928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07008" y="157276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Найти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207008" y="18836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40280"/>
            <a:ext cx="17190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 в Xiaohongshu, поиск или открытка друга → главная на английском / китайском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7355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C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Снимает: «как забронировать?»</a:t>
            </a:r>
            <a:endParaRPr lang="en-US" sz="1050" dirty="0"/>
          </a:p>
        </p:txBody>
      </p:sp>
      <p:sp>
        <p:nvSpPr>
          <p:cNvPr id="10" name="Step icon bg Plan"/>
          <p:cNvSpPr/>
          <p:nvPr/>
        </p:nvSpPr>
        <p:spPr>
          <a:xfrm>
            <a:off x="2423160" y="1572768"/>
            <a:ext cx="566928" cy="566928"/>
          </a:xfrm>
          <a:prstGeom prst="ellipse">
            <a:avLst/>
          </a:prstGeom>
          <a:solidFill>
            <a:srgbClr val="13161B"/>
          </a:solidFill>
          <a:ln/>
        </p:spPr>
      </p:sp>
      <p:pic>
        <p:nvPicPr>
          <p:cNvPr id="11" name="Step icon Pla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70992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81528" y="157276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081528" y="18836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2423160" y="2240280"/>
            <a:ext cx="17190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тура: цена в ₸ + юанях / долларах; четыре списка — включено, опции, не включено, ещё не подтверждено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2423160" y="327355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C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Снимает: «что входит в цену?»</a:t>
            </a:r>
            <a:endParaRPr lang="en-US" sz="1050" dirty="0"/>
          </a:p>
        </p:txBody>
      </p:sp>
      <p:sp>
        <p:nvSpPr>
          <p:cNvPr id="16" name="Step icon bg Check"/>
          <p:cNvSpPr/>
          <p:nvPr/>
        </p:nvSpPr>
        <p:spPr>
          <a:xfrm>
            <a:off x="4297680" y="1572768"/>
            <a:ext cx="566928" cy="566928"/>
          </a:xfrm>
          <a:prstGeom prst="ellipse">
            <a:avLst/>
          </a:prstGeom>
          <a:solidFill>
            <a:srgbClr val="13161B"/>
          </a:solidFill>
          <a:ln/>
        </p:spPr>
      </p:sp>
      <p:pic>
        <p:nvPicPr>
          <p:cNvPr id="17" name="Step icon 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70992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956048" y="157276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956048" y="18836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4297680" y="2240280"/>
            <a:ext cx="17190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доверия: видео гида, звонок 5 минут до оплаты, правила возврата; чат → менеджер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4297680" y="327355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C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Снимает: «можно ли доверять?»</a:t>
            </a:r>
            <a:endParaRPr lang="en-US" sz="1050" dirty="0"/>
          </a:p>
        </p:txBody>
      </p:sp>
      <p:sp>
        <p:nvSpPr>
          <p:cNvPr id="22" name="Step icon bg Book"/>
          <p:cNvSpPr/>
          <p:nvPr/>
        </p:nvSpPr>
        <p:spPr>
          <a:xfrm>
            <a:off x="6172200" y="1572768"/>
            <a:ext cx="566928" cy="566928"/>
          </a:xfrm>
          <a:prstGeom prst="ellipse">
            <a:avLst/>
          </a:prstGeom>
          <a:solidFill>
            <a:srgbClr val="13161B"/>
          </a:solidFill>
          <a:ln/>
        </p:spPr>
      </p:sp>
      <p:pic>
        <p:nvPicPr>
          <p:cNvPr id="23" name="Step icon Boo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709928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30568" y="157276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Бронь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6830568" y="18836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4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6172200" y="2240280"/>
            <a:ext cx="17190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шага: тур и дата → данные туриста (без паспорта) → иностранная карта на странице провайдера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6172200" y="327355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C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Снимает: «карта не проходит»</a:t>
            </a:r>
            <a:endParaRPr lang="en-US" sz="1050" dirty="0"/>
          </a:p>
        </p:txBody>
      </p:sp>
      <p:sp>
        <p:nvSpPr>
          <p:cNvPr id="28" name="Step icon bg Travel"/>
          <p:cNvSpPr/>
          <p:nvPr/>
        </p:nvSpPr>
        <p:spPr>
          <a:xfrm>
            <a:off x="8046720" y="1572768"/>
            <a:ext cx="566928" cy="566928"/>
          </a:xfrm>
          <a:prstGeom prst="ellipse">
            <a:avLst/>
          </a:prstGeom>
          <a:solidFill>
            <a:srgbClr val="13161B"/>
          </a:solidFill>
          <a:ln/>
        </p:spPr>
      </p:sp>
      <p:pic>
        <p:nvPicPr>
          <p:cNvPr id="29" name="Step icon Travel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1709928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705088" y="157276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Поездка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8705088" y="18836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5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8046720" y="2240280"/>
            <a:ext cx="17190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«Моя поездка»: код брони, ежедневные отметки, перенос, если закрыли горную дорогу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8046720" y="327355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C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Снимает: «а что дальше?»</a:t>
            </a:r>
            <a:endParaRPr lang="en-US" sz="1050" dirty="0"/>
          </a:p>
        </p:txBody>
      </p:sp>
      <p:sp>
        <p:nvSpPr>
          <p:cNvPr id="34" name="Step icon bg Share"/>
          <p:cNvSpPr/>
          <p:nvPr/>
        </p:nvSpPr>
        <p:spPr>
          <a:xfrm>
            <a:off x="9921240" y="1572768"/>
            <a:ext cx="566928" cy="566928"/>
          </a:xfrm>
          <a:prstGeom prst="ellipse">
            <a:avLst/>
          </a:prstGeom>
          <a:solidFill>
            <a:srgbClr val="13161B"/>
          </a:solidFill>
          <a:ln/>
        </p:spPr>
      </p:sp>
      <p:pic>
        <p:nvPicPr>
          <p:cNvPr id="35" name="Step icon Shar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0" y="1709928"/>
            <a:ext cx="292608" cy="292608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0579608" y="157276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Делиться</a:t>
            </a:r>
            <a:endParaRPr lang="en-US" sz="1700" dirty="0"/>
          </a:p>
        </p:txBody>
      </p:sp>
      <p:sp>
        <p:nvSpPr>
          <p:cNvPr id="37" name="Text 29"/>
          <p:cNvSpPr txBox="1"/>
          <p:nvPr/>
        </p:nvSpPr>
        <p:spPr>
          <a:xfrm>
            <a:off x="10579608" y="18836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6</a:t>
            </a:r>
            <a:endParaRPr lang="en-US" sz="1050" dirty="0"/>
          </a:p>
        </p:txBody>
      </p:sp>
      <p:sp>
        <p:nvSpPr>
          <p:cNvPr id="38" name="Text 30"/>
          <p:cNvSpPr txBox="1"/>
          <p:nvPr/>
        </p:nvSpPr>
        <p:spPr>
          <a:xfrm>
            <a:off x="9921240" y="2240280"/>
            <a:ext cx="17190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Открытка для Xiaohongshu / WeChat с QR-кодом → друг начинает с шага 1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9921240" y="327355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C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приводит следующего туриста</a:t>
            </a:r>
            <a:endParaRPr lang="en-US" sz="1050" dirty="0"/>
          </a:p>
        </p:txBody>
      </p:sp>
      <p:sp>
        <p:nvSpPr>
          <p:cNvPr id="40" name="Text 32"/>
          <p:cNvSpPr txBox="1"/>
          <p:nvPr/>
        </p:nvSpPr>
        <p:spPr>
          <a:xfrm>
            <a:off x="548640" y="36758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Каждая открытка возвращает следующего туриста к шагу «Найти».</a:t>
            </a:r>
            <a:endParaRPr lang="en-US" sz="1150" dirty="0"/>
          </a:p>
        </p:txBody>
      </p:sp>
      <p:sp>
        <p:nvSpPr>
          <p:cNvPr id="41" name="Screenshot frame"/>
          <p:cNvSpPr/>
          <p:nvPr/>
        </p:nvSpPr>
        <p:spPr>
          <a:xfrm>
            <a:off x="548640" y="4023360"/>
            <a:ext cx="3840480" cy="1965960"/>
          </a:xfrm>
          <a:prstGeom prst="rect">
            <a:avLst/>
          </a:prstGeom>
          <a:solidFill>
            <a:srgbClr val="F3F2EF"/>
          </a:solidFill>
          <a:ln w="9525">
            <a:solidFill>
              <a:srgbClr val="DAD7D0"/>
            </a:solidFill>
            <a:prstDash val="solid"/>
          </a:ln>
        </p:spPr>
      </p:sp>
      <p:pic>
        <p:nvPicPr>
          <p:cNvPr id="42" name="Prototype screenshot" descr="Prototype screen: four complaints, four answer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988" y="4096512"/>
            <a:ext cx="2843784" cy="1819656"/>
          </a:xfrm>
          <a:prstGeom prst="rect">
            <a:avLst/>
          </a:prstGeom>
        </p:spPr>
      </p:pic>
      <p:sp>
        <p:nvSpPr>
          <p:cNvPr id="43" name="Status head Working prototype"/>
          <p:cNvSpPr/>
          <p:nvPr/>
        </p:nvSpPr>
        <p:spPr>
          <a:xfrm>
            <a:off x="4572000" y="4023360"/>
            <a:ext cx="2240280" cy="347472"/>
          </a:xfrm>
          <a:prstGeom prst="rect">
            <a:avLst/>
          </a:prstGeom>
          <a:solidFill>
            <a:srgbClr val="13161B"/>
          </a:solidFill>
          <a:ln/>
        </p:spPr>
      </p:sp>
      <p:sp>
        <p:nvSpPr>
          <p:cNvPr id="44" name="Text 35"/>
          <p:cNvSpPr txBox="1"/>
          <p:nvPr/>
        </p:nvSpPr>
        <p:spPr>
          <a:xfrm>
            <a:off x="4681728" y="40233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уже работает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4572000" y="4443984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Страницы на англ. / кит., 4 тура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списка «что входит»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доверия и чат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Бронь в 3 шага — оплата симулирована</a:t>
            </a:r>
            <a:endParaRPr lang="en-US" sz="1150" dirty="0"/>
          </a:p>
        </p:txBody>
      </p:sp>
      <p:sp>
        <p:nvSpPr>
          <p:cNvPr id="46" name="Status head MVP · 12 weeks · 8M KZT"/>
          <p:cNvSpPr/>
          <p:nvPr/>
        </p:nvSpPr>
        <p:spPr>
          <a:xfrm>
            <a:off x="6949440" y="4023360"/>
            <a:ext cx="2240280" cy="347472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47" name="Text 38"/>
          <p:cNvSpPr txBox="1"/>
          <p:nvPr/>
        </p:nvSpPr>
        <p:spPr>
          <a:xfrm>
            <a:off x="7059168" y="40233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12 недель · 8 млн ₸</a:t>
            </a:r>
            <a:endParaRPr lang="en-US" sz="1200" dirty="0"/>
          </a:p>
        </p:txBody>
      </p:sp>
      <p:sp>
        <p:nvSpPr>
          <p:cNvPr id="48" name="Text 39"/>
          <p:cNvSpPr txBox="1"/>
          <p:nvPr/>
        </p:nvSpPr>
        <p:spPr>
          <a:xfrm>
            <a:off x="6949440" y="4443984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Реальная оплата картой на странице провайдера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Настоящие видео гидов, звонок 5 мин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 по сценарию + передача менеджеру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«Моя поездка» и открытка</a:t>
            </a:r>
            <a:endParaRPr lang="en-US" sz="1150" dirty="0"/>
          </a:p>
        </p:txBody>
      </p:sp>
      <p:sp>
        <p:nvSpPr>
          <p:cNvPr id="49" name="Status head Later"/>
          <p:cNvSpPr/>
          <p:nvPr/>
        </p:nvSpPr>
        <p:spPr>
          <a:xfrm>
            <a:off x="9326880" y="4023360"/>
            <a:ext cx="2240280" cy="347472"/>
          </a:xfrm>
          <a:prstGeom prst="rect">
            <a:avLst/>
          </a:prstGeom>
          <a:solidFill>
            <a:srgbClr val="A9ADB4"/>
          </a:solidFill>
          <a:ln/>
        </p:spPr>
      </p:sp>
      <p:sp>
        <p:nvSpPr>
          <p:cNvPr id="50" name="Text 41"/>
          <p:cNvSpPr txBox="1"/>
          <p:nvPr/>
        </p:nvSpPr>
        <p:spPr>
          <a:xfrm>
            <a:off x="9436608" y="40233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2 · после проверки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9326880" y="4443984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Alipay и WeChat Pay после одобрения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ИИ-консьерж (превью уже в прототипе)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Конструктор поездок, живая погода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Продажа через Trip.com</a:t>
            </a:r>
            <a:endParaRPr lang="en-US" sz="1150" dirty="0"/>
          </a:p>
        </p:txBody>
      </p:sp>
      <p:sp>
        <p:nvSpPr>
          <p:cNvPr id="52" name="Sources"/>
          <p:cNvSpPr txBox="1"/>
          <p:nvPr/>
        </p:nvSpPr>
        <p:spPr>
          <a:xfrm>
            <a:off x="548640" y="60807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 нашего кликабельного прототипа. Оплата в прототипе симулирована; цены туров и профили гидов — демо-данные.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3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Живое демо: один турист, одна бронь, 90 секунд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Показываем весь путь на настоящем прототипе, без монтажа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43584" y="1783080"/>
            <a:ext cx="0" cy="3520440"/>
          </a:xfrm>
          <a:prstGeom prst="line">
            <a:avLst/>
          </a:prstGeom>
          <a:noFill/>
          <a:ln w="19050">
            <a:solidFill>
              <a:srgbClr val="3A3F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70432" y="1700784"/>
            <a:ext cx="146304" cy="146304"/>
          </a:xfrm>
          <a:prstGeom prst="ellipse">
            <a:avLst/>
          </a:prstGeom>
          <a:solidFill>
            <a:srgbClr val="C8963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08760" y="16002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Главная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886200" y="156362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Переключаем язык на китайский; четыре тура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8600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70432" y="2386584"/>
            <a:ext cx="146304" cy="146304"/>
          </a:xfrm>
          <a:prstGeom prst="ellipse">
            <a:avLst/>
          </a:prstGeom>
          <a:solidFill>
            <a:srgbClr val="C896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08760" y="22860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Страница тура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224942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в ₸ и юанях; четыре списка; показываем «ещё не подтверждено»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97180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70432" y="3072384"/>
            <a:ext cx="146304" cy="146304"/>
          </a:xfrm>
          <a:prstGeom prst="ellipse">
            <a:avLst/>
          </a:prstGeom>
          <a:solidFill>
            <a:srgbClr val="C8963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508760" y="29718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Доверие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886200" y="293522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 гида, «звонок 5 минут», правила возврата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65760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70432" y="3758184"/>
            <a:ext cx="146304" cy="146304"/>
          </a:xfrm>
          <a:prstGeom prst="ellipse">
            <a:avLst/>
          </a:prstGeom>
          <a:solidFill>
            <a:srgbClr val="C8963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508760" y="36576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Бронь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886200" y="362102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Дата, 2 туриста; имя, e-mail, страна — без паспорта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34340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170432" y="4443984"/>
            <a:ext cx="146304" cy="146304"/>
          </a:xfrm>
          <a:prstGeom prst="ellipse">
            <a:avLst/>
          </a:prstGeom>
          <a:solidFill>
            <a:srgbClr val="C8963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508760" y="43434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Оплата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886200" y="430682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карты у провайдера — «симуляция, деньги не списываются»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02920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170432" y="5129784"/>
            <a:ext cx="146304" cy="146304"/>
          </a:xfrm>
          <a:prstGeom prst="ellipse">
            <a:avLst/>
          </a:prstGeom>
          <a:solidFill>
            <a:srgbClr val="C8963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508760" y="50292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Подтверждение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886200" y="499262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брони, что подтвердит менеджер, открытка</a:t>
            </a:r>
            <a:endParaRPr lang="en-US" sz="1250" dirty="0"/>
          </a:p>
        </p:txBody>
      </p:sp>
      <p:sp>
        <p:nvSpPr>
          <p:cNvPr id="29" name="Honest demo card"/>
          <p:cNvSpPr/>
          <p:nvPr/>
        </p:nvSpPr>
        <p:spPr>
          <a:xfrm>
            <a:off x="7452360" y="1600200"/>
            <a:ext cx="4160520" cy="3749040"/>
          </a:xfrm>
          <a:prstGeom prst="roundRect">
            <a:avLst>
              <a:gd name="adj" fmla="val 1463"/>
            </a:avLst>
          </a:prstGeom>
          <a:solidFill>
            <a:srgbClr val="1F242B"/>
          </a:solidFill>
          <a:ln w="9525">
            <a:solidFill>
              <a:srgbClr val="3A3F4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2668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Честное демо</a:t>
            </a:r>
            <a:endParaRPr lang="en-US" sz="19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368296"/>
            <a:ext cx="292608" cy="292608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8183880" y="23317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симулирована — деньги не списываются.</a:t>
            </a:r>
            <a:endParaRPr lang="en-US" sz="1300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099816"/>
            <a:ext cx="292608" cy="292608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8183880" y="30632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Цены, профили гидов и погода — демо-данные.</a:t>
            </a:r>
            <a:endParaRPr lang="en-US" sz="13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3831336"/>
            <a:ext cx="292608" cy="292608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8183880" y="3794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турист — вымышленный персонаж для демо.</a:t>
            </a:r>
            <a:endParaRPr lang="en-US" sz="13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4562856"/>
            <a:ext cx="292608" cy="292608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8183880" y="45262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Запасной вариант: запись экрана на 60 секунд, хранится офлайн.</a:t>
            </a:r>
            <a:endParaRPr lang="en-US" sz="1300" dirty="0"/>
          </a:p>
        </p:txBody>
      </p:sp>
      <p:sp>
        <p:nvSpPr>
          <p:cNvPr id="39" name="Text 33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C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история: нашёл · проверил · поверил · забронировал · оплатил · знает, что дальше</a:t>
            </a:r>
            <a:endParaRPr lang="en-US" sz="1800" dirty="0"/>
          </a:p>
        </p:txBody>
      </p:sp>
      <p:sp>
        <p:nvSpPr>
          <p:cNvPr id="40" name="Sources"/>
          <p:cNvSpPr txBox="1"/>
          <p:nvPr/>
        </p:nvSpPr>
        <p:spPr>
          <a:xfrm>
            <a:off x="548640" y="60533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Персонаж демо вымышленный. Данные прототипа (цены, гиды, погода) — образцы; оплата симулирована.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Trip.com — дополнительный канал, а не замена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даёт охват; прямой канал — маржу, доверие и повторных гостей</a:t>
            </a:r>
            <a:endParaRPr lang="en-US" sz="1400" dirty="0"/>
          </a:p>
        </p:txBody>
      </p:sp>
      <p:graphicFrame>
        <p:nvGraphicFramePr>
          <p:cNvPr id="7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54680"/>
                <a:gridCol w="2743200"/>
                <a:gridCol w="3337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Trip.com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Сегодня: Instagram, WhatsApp, телефон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Saryarqa Go (MVP)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63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Охват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языка, 35 валют [7]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те, кто уже нашёл компанию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те, до кого дотянемся сами — нужен маркетинг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Оплата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Карты, вкл. UnionPay, PayPal, Apple / Google Pay [8]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Перевод на Kaspi или наличные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Иностранные карты на странице провайдера; Alipay / WeChat Pay позже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Цена продажи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Комиссия за экскурсии не публикуется; у GetYourGuide ≈20–30% [9]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 комиссии, но продажи теряются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 комиссии; 395 тыс. ₸/мес. на работу + маркетинг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Клиент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Принадлежит платформе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Компании, но разбросан по чатам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Компании: контакты, повторные поездки, рекомендации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Гид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проверенном объявлении виден тур, а не гид [6]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если спросить в чате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Видео гида + звонок 5 минут до оплаты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Связь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Поддержка платформы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Гибко, но только на русском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Чат на англ. / кит. + передача менеджеру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F"/>
                    </a:solidFill>
                  </a:tcPr>
                </a:tc>
              </a:tr>
            </a:tbl>
          </a:graphicData>
        </a:graphic>
      </p:graphicFrame>
      <p:sp>
        <p:nvSpPr>
          <p:cNvPr id="5" name="Card Demand is proven"/>
          <p:cNvSpPr/>
          <p:nvPr/>
        </p:nvSpPr>
        <p:spPr>
          <a:xfrm>
            <a:off x="548640" y="4983480"/>
            <a:ext cx="3566160" cy="987552"/>
          </a:xfrm>
          <a:prstGeom prst="roundRect">
            <a:avLst>
              <a:gd name="adj" fmla="val 5556"/>
            </a:avLst>
          </a:prstGeom>
          <a:solidFill>
            <a:srgbClr val="F3F2E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3232" y="5029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 доказан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Однодневный тур Чарын–Кольсай–Каинды продаётся на Trip.com от £64,57 с человека: 108 бронирований, 3,9 / 5 по 12 отзывам [6].</a:t>
            </a:r>
            <a:endParaRPr lang="en-US" sz="1300" dirty="0"/>
          </a:p>
        </p:txBody>
      </p:sp>
      <p:sp>
        <p:nvSpPr>
          <p:cNvPr id="7" name="Card Commission vs margin"/>
          <p:cNvSpPr/>
          <p:nvPr/>
        </p:nvSpPr>
        <p:spPr>
          <a:xfrm>
            <a:off x="4297680" y="4983480"/>
            <a:ext cx="3566160" cy="987552"/>
          </a:xfrm>
          <a:prstGeom prst="roundRect">
            <a:avLst>
              <a:gd name="adj" fmla="val 5556"/>
            </a:avLst>
          </a:prstGeom>
          <a:solidFill>
            <a:srgbClr val="F3F2E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462272" y="5029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Комиссия против маржи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комиссии 20–30% наша условная маржа 13 200 ₸ с тура за 44 000 ₸ падает до 4 400 ₸ — или до нуля.</a:t>
            </a:r>
            <a:endParaRPr lang="en-US" sz="1300" dirty="0"/>
          </a:p>
        </p:txBody>
      </p:sp>
      <p:sp>
        <p:nvSpPr>
          <p:cNvPr id="9" name="Card When we would use it"/>
          <p:cNvSpPr/>
          <p:nvPr/>
        </p:nvSpPr>
        <p:spPr>
          <a:xfrm>
            <a:off x="8046720" y="4983480"/>
            <a:ext cx="3566160" cy="987552"/>
          </a:xfrm>
          <a:prstGeom prst="roundRect">
            <a:avLst>
              <a:gd name="adj" fmla="val 5556"/>
            </a:avLst>
          </a:prstGeom>
          <a:solidFill>
            <a:srgbClr val="13161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11312" y="5029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подключим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пилота — для 1–2 стандартных однодневных туров, если у гидов есть свободные дни. Длинные и повторные поездки — напрямую.</a:t>
            </a:r>
            <a:endParaRPr lang="en-US" sz="1300" dirty="0"/>
          </a:p>
        </p:txBody>
      </p:sp>
      <p:sp>
        <p:nvSpPr>
          <p:cNvPr id="11" name="Sources"/>
          <p:cNvSpPr txBox="1"/>
          <p:nvPr/>
        </p:nvSpPr>
        <p:spPr>
          <a:xfrm>
            <a:off x="548640" y="60807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[6] объявление Trip.com 97639672, проверено 27.10.2026 · [7] профиль Trip.com Group · [8] справка Trip.com о способах оплаты · [9] Bokun, 2024 (комиссия GetYourGuide).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3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Нужно 8 из 20 млн ₸; окупаемость — 22–28 месяцев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 кейса — 20 млн ₸. Этап 1 — 8 млн; ещё до 12 млн — только после контрольной точки на 9-м месяце</a:t>
            </a:r>
            <a:endParaRPr lang="en-US" sz="1400" dirty="0"/>
          </a:p>
        </p:txBody>
      </p:sp>
      <p:graphicFrame>
        <p:nvGraphicFramePr>
          <p:cNvPr id="4" name="Budget doughnut" descr=""/>
          <p:cNvGraphicFramePr/>
          <p:nvPr/>
        </p:nvGraphicFramePr>
        <p:xfrm>
          <a:off x="411480" y="1463040"/>
          <a:ext cx="25146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069848" y="233172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млн</a:t>
            </a:r>
            <a:endParaRPr lang="en-US" sz="2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₸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063240" y="1719072"/>
            <a:ext cx="164592" cy="164592"/>
          </a:xfrm>
          <a:prstGeom prst="ellipse">
            <a:avLst/>
          </a:prstGeom>
          <a:solidFill>
            <a:srgbClr val="C8963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310128" y="16276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</a:t>
            </a:r>
            <a:pPr indent="0" marL="0">
              <a:buNone/>
            </a:pPr>
            <a:r>
              <a:rPr lang="en-US" sz="125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4,45 млн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063240" y="2176272"/>
            <a:ext cx="164592" cy="164592"/>
          </a:xfrm>
          <a:prstGeom prst="ellipse">
            <a:avLst/>
          </a:prstGeom>
          <a:solidFill>
            <a:srgbClr val="13161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310128" y="2084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pPr indent="0" marL="0">
              <a:buNone/>
            </a:pPr>
            <a:r>
              <a:rPr lang="en-US" sz="125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0,25 млн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063240" y="2633472"/>
            <a:ext cx="164592" cy="164592"/>
          </a:xfrm>
          <a:prstGeom prst="ellipse">
            <a:avLst/>
          </a:prstGeom>
          <a:solidFill>
            <a:srgbClr val="E3C58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310128" y="2542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</a:t>
            </a:r>
            <a:pPr indent="0" marL="0">
              <a:buNone/>
            </a:pPr>
            <a:r>
              <a:rPr lang="en-US" sz="125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1,3 млн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063240" y="3090672"/>
            <a:ext cx="164592" cy="164592"/>
          </a:xfrm>
          <a:prstGeom prst="ellipse">
            <a:avLst/>
          </a:prstGeom>
          <a:solidFill>
            <a:srgbClr val="6E737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310128" y="29992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Операции</a:t>
            </a:r>
            <a:pPr indent="0" marL="0">
              <a:buNone/>
            </a:pPr>
            <a:r>
              <a:rPr lang="en-US" sz="125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1,38 млн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063240" y="3547872"/>
            <a:ext cx="164592" cy="164592"/>
          </a:xfrm>
          <a:prstGeom prst="ellipse">
            <a:avLst/>
          </a:prstGeom>
          <a:solidFill>
            <a:srgbClr val="B9BDC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310128" y="34564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</a:t>
            </a:r>
            <a:pPr indent="0" marL="0">
              <a:buNone/>
            </a:pPr>
            <a:r>
              <a:rPr lang="en-US" sz="125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0,62 млн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00507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входит в 8 млн: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команды (бесплатно); владелец продукта, менеджер и гиды компании.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2: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Alipay / WeChat Pay онлайн, ИИ-чат, конструктор поездок, живая погода, Trip.com.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8646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13 200 ₸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965960" y="48646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 с одного туриста = 44 000 × 30% (допущение)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2486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≈30 в мес.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965960" y="52486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туристов, чтобы покрыть 395 000 ₸/мес. расходов с 13-го месяца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63270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≈8 200 ₸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965960" y="56327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 на одного туриста в 1-й год (сценарий −30%)</a:t>
            </a:r>
            <a:endParaRPr lang="en-US" sz="1100" dirty="0"/>
          </a:p>
        </p:txBody>
      </p:sp>
      <p:sp>
        <p:nvSpPr>
          <p:cNvPr id="23" name="KPI Base · 70% of target"/>
          <p:cNvSpPr/>
          <p:nvPr/>
        </p:nvSpPr>
        <p:spPr>
          <a:xfrm>
            <a:off x="5532120" y="1554480"/>
            <a:ext cx="1938528" cy="914400"/>
          </a:xfrm>
          <a:prstGeom prst="rect">
            <a:avLst/>
          </a:prstGeom>
          <a:solidFill>
            <a:srgbClr val="F7EFDF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641848" y="1572768"/>
            <a:ext cx="1783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Худший случай · −30%</a:t>
            </a:r>
            <a:endParaRPr lang="en-US" sz="1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28-й месяц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−6,0 млн (мес. 10)</a:t>
            </a:r>
            <a:endParaRPr lang="en-US" sz="1000" dirty="0"/>
          </a:p>
        </p:txBody>
      </p:sp>
      <p:sp>
        <p:nvSpPr>
          <p:cNvPr id="25" name="KPI Optimistic · 100%"/>
          <p:cNvSpPr/>
          <p:nvPr/>
        </p:nvSpPr>
        <p:spPr>
          <a:xfrm>
            <a:off x="7589520" y="1554480"/>
            <a:ext cx="1938528" cy="914400"/>
          </a:xfrm>
          <a:prstGeom prst="rect">
            <a:avLst/>
          </a:prstGeom>
          <a:solidFill>
            <a:srgbClr val="F3F2E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699248" y="1572768"/>
            <a:ext cx="1783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компании · 100%</a:t>
            </a:r>
            <a:endParaRPr lang="en-US" sz="1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3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22-й месяц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−5,6 млн (мес. 8)</a:t>
            </a:r>
            <a:endParaRPr lang="en-US" sz="1000" dirty="0"/>
          </a:p>
        </p:txBody>
      </p:sp>
      <p:sp>
        <p:nvSpPr>
          <p:cNvPr id="27" name="KPI Downside · 40%, 25% margin"/>
          <p:cNvSpPr/>
          <p:nvPr/>
        </p:nvSpPr>
        <p:spPr>
          <a:xfrm>
            <a:off x="9646920" y="1554480"/>
            <a:ext cx="1938528" cy="914400"/>
          </a:xfrm>
          <a:prstGeom prst="rect">
            <a:avLst/>
          </a:prstGeom>
          <a:solidFill>
            <a:srgbClr val="F3F2E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756648" y="1572768"/>
            <a:ext cx="1783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Стресс-тест · 40%, маржа 25%</a:t>
            </a:r>
            <a:endParaRPr lang="en-US" sz="1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6E73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48 мес.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окупается; запуск позже на 2 мес.</a:t>
            </a:r>
            <a:endParaRPr lang="en-US" sz="1000" dirty="0"/>
          </a:p>
        </p:txBody>
      </p:sp>
      <p:graphicFrame>
        <p:nvGraphicFramePr>
          <p:cNvPr id="29" name="Cumulative cash flow chart" descr=""/>
          <p:cNvGraphicFramePr/>
          <p:nvPr/>
        </p:nvGraphicFramePr>
        <p:xfrm>
          <a:off x="5394960" y="2560320"/>
          <a:ext cx="63093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Sources"/>
          <p:cNvSpPr txBox="1"/>
          <p:nvPr/>
        </p:nvSpPr>
        <p:spPr>
          <a:xfrm>
            <a:off x="548640" y="60807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вклад и денежный поток, не прибыль. Работа команды бесплатна; время сотрудников компании не учтено. Полная модель: Cost_Payback_Sheet.xlsx.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3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недель до пилота — риски названы открыто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этапа есть проверяемый результат; на 9-м месяце — точка «идём / не идём»</a:t>
            </a:r>
            <a:endParaRPr lang="en-US" sz="1400" dirty="0"/>
          </a:p>
        </p:txBody>
      </p:sp>
      <p:sp>
        <p:nvSpPr>
          <p:cNvPr id="4" name="Phase Wk 1–2"/>
          <p:cNvSpPr/>
          <p:nvPr/>
        </p:nvSpPr>
        <p:spPr>
          <a:xfrm>
            <a:off x="548640" y="1508760"/>
            <a:ext cx="1755648" cy="2103120"/>
          </a:xfrm>
          <a:prstGeom prst="rect">
            <a:avLst/>
          </a:prstGeom>
          <a:solidFill>
            <a:srgbClr val="1F242B"/>
          </a:solidFill>
          <a:ln w="9525">
            <a:solidFill>
              <a:srgbClr val="3A3F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572768"/>
            <a:ext cx="155448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Нед. 1–2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Интервью, проверка маржи, заявки платёжным провайдерам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Готово: ≥10 интервью; маржа подтверждена; заявки отправлены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Ихсан + Ералы, PO компании</a:t>
            </a:r>
            <a:endParaRPr lang="en-US" sz="1300" dirty="0"/>
          </a:p>
        </p:txBody>
      </p:sp>
      <p:sp>
        <p:nvSpPr>
          <p:cNvPr id="6" name="Phase Wk 3–4"/>
          <p:cNvSpPr/>
          <p:nvPr/>
        </p:nvSpPr>
        <p:spPr>
          <a:xfrm>
            <a:off x="2414016" y="1508760"/>
            <a:ext cx="1755648" cy="2103120"/>
          </a:xfrm>
          <a:prstGeom prst="rect">
            <a:avLst/>
          </a:prstGeom>
          <a:solidFill>
            <a:srgbClr val="1F242B"/>
          </a:solidFill>
          <a:ln w="9525">
            <a:solidFill>
              <a:srgbClr val="3A3F4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23744" y="1572768"/>
            <a:ext cx="155448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Нед. 3–4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 + 4 страницы туров на англ. / кит.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Готово: страницы проверили ≥3 целевых пользователя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Асылхан + нанятый дизайнер</a:t>
            </a:r>
            <a:endParaRPr lang="en-US" sz="1300" dirty="0"/>
          </a:p>
        </p:txBody>
      </p:sp>
      <p:sp>
        <p:nvSpPr>
          <p:cNvPr id="8" name="Phase Wk 5–7"/>
          <p:cNvSpPr/>
          <p:nvPr/>
        </p:nvSpPr>
        <p:spPr>
          <a:xfrm>
            <a:off x="4279392" y="1508760"/>
            <a:ext cx="1755648" cy="2103120"/>
          </a:xfrm>
          <a:prstGeom prst="rect">
            <a:avLst/>
          </a:prstGeom>
          <a:solidFill>
            <a:srgbClr val="1F242B"/>
          </a:solidFill>
          <a:ln w="9525">
            <a:solidFill>
              <a:srgbClr val="3A3F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9120" y="1572768"/>
            <a:ext cx="155448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Нед. 5–7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Бронь, списки, чат по сценарию, доверие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Готово: тестовая бронь проходит в тестовом режиме провайдера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Нанятый разработчик; тесты — Асылхан</a:t>
            </a:r>
            <a:endParaRPr lang="en-US" sz="1300" dirty="0"/>
          </a:p>
        </p:txBody>
      </p:sp>
      <p:sp>
        <p:nvSpPr>
          <p:cNvPr id="10" name="Phase Wk 8–9"/>
          <p:cNvSpPr/>
          <p:nvPr/>
        </p:nvSpPr>
        <p:spPr>
          <a:xfrm>
            <a:off x="6144768" y="1508760"/>
            <a:ext cx="1755648" cy="2103120"/>
          </a:xfrm>
          <a:prstGeom prst="rect">
            <a:avLst/>
          </a:prstGeom>
          <a:solidFill>
            <a:srgbClr val="1F242B"/>
          </a:solidFill>
          <a:ln w="9525">
            <a:solidFill>
              <a:srgbClr val="3A3F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54496" y="1572768"/>
            <a:ext cx="155448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Нед. 8–9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«Моя поездка», реальная оплата, безопасность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Готово: сотрудники делают первый реальный платёж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 + Рамазан</a:t>
            </a:r>
            <a:endParaRPr lang="en-US" sz="1300" dirty="0"/>
          </a:p>
        </p:txBody>
      </p:sp>
      <p:sp>
        <p:nvSpPr>
          <p:cNvPr id="12" name="Phase Wk 10–11"/>
          <p:cNvSpPr/>
          <p:nvPr/>
        </p:nvSpPr>
        <p:spPr>
          <a:xfrm>
            <a:off x="8010144" y="1508760"/>
            <a:ext cx="1755648" cy="2103120"/>
          </a:xfrm>
          <a:prstGeom prst="rect">
            <a:avLst/>
          </a:prstGeom>
          <a:solidFill>
            <a:srgbClr val="1F242B"/>
          </a:solidFill>
          <a:ln w="9525">
            <a:solidFill>
              <a:srgbClr val="3A3F4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19872" y="1572768"/>
            <a:ext cx="155448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Нед. 10–11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Тесты удобства и проверка оплаты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Готово: 5–8 сессий, блокирующих проблем нет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Ералы</a:t>
            </a:r>
            <a:endParaRPr lang="en-US" sz="1300" dirty="0"/>
          </a:p>
        </p:txBody>
      </p:sp>
      <p:sp>
        <p:nvSpPr>
          <p:cNvPr id="14" name="Phase Wk 12"/>
          <p:cNvSpPr/>
          <p:nvPr/>
        </p:nvSpPr>
        <p:spPr>
          <a:xfrm>
            <a:off x="9875520" y="1508760"/>
            <a:ext cx="1755648" cy="2103120"/>
          </a:xfrm>
          <a:prstGeom prst="rect">
            <a:avLst/>
          </a:prstGeom>
          <a:solidFill>
            <a:srgbClr val="1F242B"/>
          </a:solidFill>
          <a:ln w="9525">
            <a:solidFill>
              <a:srgbClr val="3A3F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985248" y="1572768"/>
            <a:ext cx="155448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Нед. 12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с реальными туристами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Готово: измерены доходимость брони, передачи менеджеру, брони по открыткам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Ихсан + компания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76732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Открытые риски и наш ответ</a:t>
            </a:r>
            <a:endParaRPr lang="en-US" sz="16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20624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68680" y="41605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Оплату долго одобряют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154680" y="41605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карты; 2 заявки на 1-й неделе; Alipay / WeChat позже</a:t>
            </a:r>
            <a:endParaRPr lang="en-US" sz="11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0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68680" y="452628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Мало спроса из Китая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3154680" y="45262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Интервью до кода; посты до рекламы; проверка на 9-м месяце</a:t>
            </a:r>
            <a:endParaRPr lang="en-US" sz="11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937760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68680" y="489204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 ошибается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3154680" y="48920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Отвечает только по проверенным данным; «не знаю» → менеджер</a:t>
            </a:r>
            <a:endParaRPr lang="en-US" sz="11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303520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68680" y="5257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Личные данные и оплата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3154680" y="5257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храним паспорт и данные карты; согласие; проверка безопасности</a:t>
            </a:r>
            <a:endParaRPr lang="en-US" sz="115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669280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68680" y="56235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 и качество гидов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3154680" y="56235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 китайский гидов; поддержка на китайском; аудиогид</a:t>
            </a:r>
            <a:endParaRPr lang="en-US" sz="1150" dirty="0"/>
          </a:p>
        </p:txBody>
      </p:sp>
      <p:sp>
        <p:nvSpPr>
          <p:cNvPr id="32" name="Gate and next step"/>
          <p:cNvSpPr/>
          <p:nvPr/>
        </p:nvSpPr>
        <p:spPr>
          <a:xfrm>
            <a:off x="8001000" y="3767328"/>
            <a:ext cx="3611880" cy="2212848"/>
          </a:xfrm>
          <a:prstGeom prst="roundRect">
            <a:avLst>
              <a:gd name="adj" fmla="val 2479"/>
            </a:avLst>
          </a:prstGeom>
          <a:solidFill>
            <a:srgbClr val="1F242B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8183880" y="3840480"/>
            <a:ext cx="329184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Контрольная точка · 9-й месяц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«−30%» — ≈21 бронь в месяц. Ближе к стресс-тесту (≈8)? Стоп платной рекламе, этап 2 не открываем.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Следующий шаг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неделю после защиты: 10 интервью с туристами из Китая · звонок компании для проверки маржи · заявки 2 платёжным провайдерам.</a:t>
            </a:r>
            <a:endParaRPr lang="en-US" sz="1400" dirty="0"/>
          </a:p>
        </p:txBody>
      </p:sp>
      <p:sp>
        <p:nvSpPr>
          <p:cNvPr id="34" name="Sources"/>
          <p:cNvSpPr txBox="1"/>
          <p:nvPr/>
        </p:nvSpPr>
        <p:spPr>
          <a:xfrm>
            <a:off x="548640" y="610819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из нашего отчёта (12 недель). Риски открыты, а не решены. Источники: [10] Alipay+ × Kaspi, авг. 2025 · [11] Halyk × WeChat Pay, апр. 2025.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ryarqa Go A — Premium">
  <a:themeElements>
    <a:clrScheme name="Saryarqa Go A — Premium">
      <a:dk1>
        <a:srgbClr val="13161B"/>
      </a:dk1>
      <a:lt1>
        <a:srgbClr val="FFFFFF"/>
      </a:lt1>
      <a:dk2>
        <a:srgbClr val="1F242B"/>
      </a:dk2>
      <a:lt2>
        <a:srgbClr val="F3F2EF"/>
      </a:lt2>
      <a:accent1>
        <a:srgbClr val="C8963E"/>
      </a:accent1>
      <a:accent2>
        <a:srgbClr val="13161B"/>
      </a:accent2>
      <a:accent3>
        <a:srgbClr val="6E737B"/>
      </a:accent3>
      <a:accent4>
        <a:srgbClr val="E8C98A"/>
      </a:accent4>
      <a:accent5>
        <a:srgbClr val="A9ADB4"/>
      </a:accent5>
      <a:accent6>
        <a:srgbClr val="8C6A2F"/>
      </a:accent6>
      <a:hlink>
        <a:srgbClr val="8C6A2F"/>
      </a:hlink>
      <a:folHlink>
        <a:srgbClr val="6E737B"/>
      </a:folHlink>
    </a:clrScheme>
    <a:fontScheme name="Saryarqa Go A — Premiu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Saryarqa Go — Concept A: Premium Startup Pitch</dc:title>
  <dc:subject>ZERTTEX Hackathon 2026, Stage 1, Case 1</dc:subject>
  <dc:creator>Team Saryarqa Go</dc:creator>
  <cp:lastModifiedBy>Team Saryarqa Go</cp:lastModifiedBy>
  <cp:revision>1</cp:revision>
  <dcterms:created xsi:type="dcterms:W3CDTF">2026-10-27T08:48:48Z</dcterms:created>
  <dcterms:modified xsi:type="dcterms:W3CDTF">2026-10-27T08:48:48Z</dcterms:modified>
</cp:coreProperties>
</file>